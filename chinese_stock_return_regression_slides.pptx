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Medium"/>
      <p:regular r:id="rId26"/>
      <p:bold r:id="rId27"/>
      <p:italic r:id="rId28"/>
      <p:boldItalic r:id="rId29"/>
    </p:embeddedFont>
    <p:embeddedFont>
      <p:font typeface="Roboto"/>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89F899-C7B2-4AD8-9931-47AD801F6B15}">
  <a:tblStyle styleId="{2D89F899-C7B2-4AD8-9931-47AD801F6B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D6B4787-D998-45B7-BF7A-10820D15526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Medium-regular.fntdata"/><Relationship Id="rId25" Type="http://schemas.openxmlformats.org/officeDocument/2006/relationships/slide" Target="slides/slide18.xml"/><Relationship Id="rId28" Type="http://schemas.openxmlformats.org/officeDocument/2006/relationships/font" Target="fonts/RobotoMedium-italic.fntdata"/><Relationship Id="rId27" Type="http://schemas.openxmlformats.org/officeDocument/2006/relationships/font" Target="fonts/RobotoMedium-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Medium-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4.xml"/><Relationship Id="rId33" Type="http://schemas.openxmlformats.org/officeDocument/2006/relationships/font" Target="fonts/Roboto-boldItalic.fntdata"/><Relationship Id="rId10" Type="http://schemas.openxmlformats.org/officeDocument/2006/relationships/slide" Target="slides/slide3.xml"/><Relationship Id="rId32" Type="http://schemas.openxmlformats.org/officeDocument/2006/relationships/font" Target="fonts/Roboto-italic.fntdata"/><Relationship Id="rId13" Type="http://schemas.openxmlformats.org/officeDocument/2006/relationships/slide" Target="slides/slide6.xml"/><Relationship Id="rId35" Type="http://schemas.openxmlformats.org/officeDocument/2006/relationships/font" Target="fonts/RobotoMono-bold.fntdata"/><Relationship Id="rId12" Type="http://schemas.openxmlformats.org/officeDocument/2006/relationships/slide" Target="slides/slide5.xml"/><Relationship Id="rId34" Type="http://schemas.openxmlformats.org/officeDocument/2006/relationships/font" Target="fonts/RobotoMono-regular.fntdata"/><Relationship Id="rId15" Type="http://schemas.openxmlformats.org/officeDocument/2006/relationships/slide" Target="slides/slide8.xml"/><Relationship Id="rId37" Type="http://schemas.openxmlformats.org/officeDocument/2006/relationships/font" Target="fonts/RobotoMono-boldItalic.fntdata"/><Relationship Id="rId14" Type="http://schemas.openxmlformats.org/officeDocument/2006/relationships/slide" Target="slides/slide7.xml"/><Relationship Id="rId36" Type="http://schemas.openxmlformats.org/officeDocument/2006/relationships/font" Target="fonts/RobotoMon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43e2bc1e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43e2bc1e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e2910e680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e2910e680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43e2bc1e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43e2bc1e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43e2bc1e2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43e2bc1e2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e2910e68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e2910e68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43e2bc1e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43e2bc1e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e2651b37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e2651b37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e2651b37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e2651b37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e2651b37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e2651b37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e2651b37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e2651b37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e2651b37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e2651b37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43e2bc1e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43e2bc1e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Let’s look the regression results in Table 1.</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First, regarding </a:t>
            </a:r>
            <a:r>
              <a:rPr b="1" lang="en">
                <a:solidFill>
                  <a:schemeClr val="dk1"/>
                </a:solidFill>
              </a:rPr>
              <a:t>Significance</a:t>
            </a:r>
            <a:r>
              <a:rPr lang="en">
                <a:solidFill>
                  <a:schemeClr val="dk1"/>
                </a:solidFill>
              </a:rPr>
              <a:t>: every variable in this table has three stars and a high T-value. This confirms that all seven factors are statistically significant drivers of returns at the 1% level.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Momentum</a:t>
            </a:r>
            <a:r>
              <a:rPr lang="en">
                <a:solidFill>
                  <a:schemeClr val="dk1"/>
                </a:solidFill>
              </a:rPr>
              <a:t> is the clear leader. It has the largest coefficient of 0.1126 and a massive T-value of 101.8. This implies that ranking stocks by past performance is the most effective way to separate winners from losers.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Next, we observe negative coefficients for </a:t>
            </a:r>
            <a:r>
              <a:rPr b="1" lang="en">
                <a:solidFill>
                  <a:schemeClr val="dk1"/>
                </a:solidFill>
              </a:rPr>
              <a:t>Reversal</a:t>
            </a:r>
            <a:r>
              <a:rPr lang="en">
                <a:solidFill>
                  <a:schemeClr val="dk1"/>
                </a:solidFill>
              </a:rPr>
              <a:t> and </a:t>
            </a:r>
            <a:r>
              <a:rPr b="1" lang="en">
                <a:solidFill>
                  <a:schemeClr val="dk1"/>
                </a:solidFill>
              </a:rPr>
              <a:t>Book-to-Market</a:t>
            </a:r>
            <a:r>
              <a:rPr lang="en">
                <a:solidFill>
                  <a:schemeClr val="dk1"/>
                </a:solidFill>
              </a:rPr>
              <a:t>. The negative sign on Book-to-Market is a critical finding. It indicates that in this sample, </a:t>
            </a:r>
            <a:r>
              <a:rPr b="1" lang="en">
                <a:solidFill>
                  <a:schemeClr val="dk1"/>
                </a:solidFill>
              </a:rPr>
              <a:t>Growth stocks systematically outperformed Value stocks</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regarding </a:t>
            </a:r>
            <a:r>
              <a:rPr b="1" lang="en">
                <a:solidFill>
                  <a:schemeClr val="dk1"/>
                </a:solidFill>
              </a:rPr>
              <a:t>Model Fit</a:t>
            </a:r>
            <a:r>
              <a:rPr lang="en">
                <a:solidFill>
                  <a:schemeClr val="dk1"/>
                </a:solidFill>
              </a:rPr>
              <a:t>: our Adjusted R-squared is 0.052. While this appears low, it is standard for monthly individual stock returns, confirming that noise still dominates short-term price movements.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43e2bc1e2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a43e2bc1e2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To prove that our model works in a real-world investment setting, we tested its predictive power using a temporal split.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As described on the screen, we trained the model on early historical data and tested it on later observations. This mimics a realistic scenario where you must predict the future using only past information.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Looking at Table 2, we used Root Mean Squared Error, or RMSE, as our primary metric. The In-Sample Training RMSE is 0.1418. The Out-of-Sample Test RMSE is 0.1421.</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The fact that these two numbers are nearly identical is the most critical finding. It demonstrates that our model generalizes well across time and is not overfitting to the historical data.</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43e2bc1e2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43e2bc1e2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To understand the real-world economic impact of our model, we calculated the Total Impact Range for each factor in Table 3.</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Let’s take Momentum as our key example to show how this works.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a stock has the lowest possible momentum rank of 0, our model predicts a negative excess return of -4.8%.</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that same stock had the highest momentum rank of 1, the predicted return jumps to positive 6.4%.</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difference between these two extremes is the Total Impact. For Momentum, this spread is 11.25%.</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This magnitude dwarfs all other factors. It confirms that in our linear model, Momentum is the single most powerful lever for generating returns.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43e2bc1e2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43e2bc1e2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Finally, we must critically assess the limitations of our model and how to fix them.</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First, looking at the 'Limits' section:</a:t>
            </a:r>
            <a:r>
              <a:rPr lang="en">
                <a:solidFill>
                  <a:schemeClr val="dk1"/>
                </a:solidFill>
              </a:rPr>
              <a:t> We face an </a:t>
            </a:r>
            <a:r>
              <a:rPr b="1" lang="en">
                <a:solidFill>
                  <a:schemeClr val="dk1"/>
                </a:solidFill>
              </a:rPr>
              <a:t>Assumption Violation</a:t>
            </a:r>
            <a:r>
              <a:rPr lang="en">
                <a:solidFill>
                  <a:schemeClr val="dk1"/>
                </a:solidFill>
              </a:rPr>
              <a:t> regarding linearity. Our model assumes a straight line, which likely misses the nonlinear patterns of top-performing stocks. Regarding </a:t>
            </a:r>
            <a:r>
              <a:rPr b="1" lang="en">
                <a:solidFill>
                  <a:schemeClr val="dk1"/>
                </a:solidFill>
              </a:rPr>
              <a:t>Outliers</a:t>
            </a:r>
            <a:r>
              <a:rPr lang="en">
                <a:solidFill>
                  <a:schemeClr val="dk1"/>
                </a:solidFill>
              </a:rPr>
              <a:t>, our ranking transformation helps standardize the data, but it compresses magnitude differences, which affects precision. And for </a:t>
            </a:r>
            <a:r>
              <a:rPr b="1" lang="en">
                <a:solidFill>
                  <a:schemeClr val="dk1"/>
                </a:solidFill>
              </a:rPr>
              <a:t>Prediction</a:t>
            </a:r>
            <a:r>
              <a:rPr lang="en">
                <a:solidFill>
                  <a:schemeClr val="dk1"/>
                </a:solidFill>
              </a:rPr>
              <a:t>, our low R-squared reflects high noise, limiting our absolute predictive power.</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Moving to 'Future Improvements':</a:t>
            </a:r>
            <a:r>
              <a:rPr lang="en">
                <a:solidFill>
                  <a:schemeClr val="dk1"/>
                </a:solidFill>
              </a:rPr>
              <a:t> To address these issues, we propose three specific steps: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We would include </a:t>
            </a:r>
            <a:r>
              <a:rPr b="1" lang="en">
                <a:solidFill>
                  <a:schemeClr val="dk1"/>
                </a:solidFill>
              </a:rPr>
              <a:t>Industry Fixed Effects</a:t>
            </a:r>
            <a:r>
              <a:rPr lang="en">
                <a:solidFill>
                  <a:schemeClr val="dk1"/>
                </a:solidFill>
              </a:rPr>
              <a:t> to control for sector-specific risks.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We would test </a:t>
            </a:r>
            <a:r>
              <a:rPr b="1" lang="en">
                <a:solidFill>
                  <a:schemeClr val="dk1"/>
                </a:solidFill>
              </a:rPr>
              <a:t>nonlinear terms</a:t>
            </a:r>
            <a:r>
              <a:rPr lang="en">
                <a:solidFill>
                  <a:schemeClr val="dk1"/>
                </a:solidFill>
              </a:rPr>
              <a:t> to better capture complex relationships.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Most importantly, we would </a:t>
            </a:r>
            <a:r>
              <a:rPr b="1" lang="en">
                <a:solidFill>
                  <a:schemeClr val="dk1"/>
                </a:solidFill>
              </a:rPr>
              <a:t>split the sample</a:t>
            </a:r>
            <a:r>
              <a:rPr lang="en">
                <a:solidFill>
                  <a:schemeClr val="dk1"/>
                </a:solidFill>
              </a:rPr>
              <a:t> into sub-periods, like pre- and post-2015, to account for changing market regimes.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43e2bc1e2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43e2bc1e2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e2910e680_2_22:notes"/>
          <p:cNvSpPr txBox="1"/>
          <p:nvPr>
            <p:ph idx="1" type="body"/>
          </p:nvPr>
        </p:nvSpPr>
        <p:spPr>
          <a:xfrm>
            <a:off x="685800" y="4399853"/>
            <a:ext cx="5486400" cy="360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ae2910e680_2_22:notes"/>
          <p:cNvSpPr/>
          <p:nvPr>
            <p:ph idx="2" type="sldImg"/>
          </p:nvPr>
        </p:nvSpPr>
        <p:spPr>
          <a:xfrm>
            <a:off x="1905391" y="1143266"/>
            <a:ext cx="3047100" cy="3088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e2910e680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e2910e680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p:cSld name="Main Title">
    <p:spTree>
      <p:nvGrpSpPr>
        <p:cNvPr id="50" name="Shape 50"/>
        <p:cNvGrpSpPr/>
        <p:nvPr/>
      </p:nvGrpSpPr>
      <p:grpSpPr>
        <a:xfrm>
          <a:off x="0" y="0"/>
          <a:ext cx="0" cy="0"/>
          <a:chOff x="0" y="0"/>
          <a:chExt cx="0" cy="0"/>
        </a:xfrm>
      </p:grpSpPr>
      <p:sp>
        <p:nvSpPr>
          <p:cNvPr id="51" name="Google Shape;51;p13"/>
          <p:cNvSpPr txBox="1"/>
          <p:nvPr>
            <p:ph type="title"/>
          </p:nvPr>
        </p:nvSpPr>
        <p:spPr>
          <a:xfrm>
            <a:off x="0" y="280025"/>
            <a:ext cx="6096000" cy="1314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2800"/>
              <a:buNone/>
              <a:defRPr>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subTitle"/>
          </p:nvPr>
        </p:nvSpPr>
        <p:spPr>
          <a:xfrm>
            <a:off x="0" y="1616869"/>
            <a:ext cx="6400800" cy="1314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2"/>
              </a:buClr>
              <a:buSzPts val="1600"/>
              <a:buFont typeface="Arial"/>
              <a:buNone/>
              <a:defRPr sz="1600">
                <a:solidFill>
                  <a:schemeClr val="dk2"/>
                </a:solidFill>
              </a:defRPr>
            </a:lvl1pPr>
            <a:lvl2pPr lvl="1" algn="l">
              <a:spcBef>
                <a:spcPts val="1200"/>
              </a:spcBef>
              <a:spcAft>
                <a:spcPts val="0"/>
              </a:spcAft>
              <a:buSzPts val="1800"/>
              <a:buChar char="○"/>
              <a:defRPr/>
            </a:lvl2pPr>
            <a:lvl3pPr lvl="2" algn="l">
              <a:spcBef>
                <a:spcPts val="1200"/>
              </a:spcBef>
              <a:spcAft>
                <a:spcPts val="0"/>
              </a:spcAft>
              <a:buSzPts val="1800"/>
              <a:buChar char="■"/>
              <a:defRPr/>
            </a:lvl3pPr>
            <a:lvl4pPr lvl="3" algn="l">
              <a:spcBef>
                <a:spcPts val="1200"/>
              </a:spcBef>
              <a:spcAft>
                <a:spcPts val="0"/>
              </a:spcAft>
              <a:buSzPts val="1800"/>
              <a:buChar char="●"/>
              <a:defRPr/>
            </a:lvl4pPr>
            <a:lvl5pPr lvl="4" algn="l">
              <a:spcBef>
                <a:spcPts val="1200"/>
              </a:spcBef>
              <a:spcAft>
                <a:spcPts val="0"/>
              </a:spcAft>
              <a:buSzPts val="1400"/>
              <a:buNone/>
              <a:defRPr/>
            </a:lvl5pPr>
            <a:lvl6pPr lvl="5" algn="l">
              <a:spcBef>
                <a:spcPts val="1200"/>
              </a:spcBef>
              <a:spcAft>
                <a:spcPts val="0"/>
              </a:spcAft>
              <a:buSzPts val="1400"/>
              <a:buNone/>
              <a:defRPr/>
            </a:lvl6pPr>
            <a:lvl7pPr lvl="6" algn="l">
              <a:spcBef>
                <a:spcPts val="1200"/>
              </a:spcBef>
              <a:spcAft>
                <a:spcPts val="0"/>
              </a:spcAft>
              <a:buSzPts val="1400"/>
              <a:buNone/>
              <a:defRPr/>
            </a:lvl7pPr>
            <a:lvl8pPr lvl="7" algn="l">
              <a:spcBef>
                <a:spcPts val="1200"/>
              </a:spcBef>
              <a:spcAft>
                <a:spcPts val="0"/>
              </a:spcAft>
              <a:buSzPts val="1400"/>
              <a:buNone/>
              <a:defRPr/>
            </a:lvl8pPr>
            <a:lvl9pPr lvl="8" algn="l">
              <a:spcBef>
                <a:spcPts val="1200"/>
              </a:spcBef>
              <a:spcAft>
                <a:spcPts val="1200"/>
              </a:spcAft>
              <a:buSzPts val="1400"/>
              <a:buNone/>
              <a:defRPr/>
            </a:lvl9pPr>
          </a:lstStyle>
          <a:p/>
        </p:txBody>
      </p:sp>
      <p:sp>
        <p:nvSpPr>
          <p:cNvPr id="53" name="Google Shape;53;p13"/>
          <p:cNvSpPr txBox="1"/>
          <p:nvPr>
            <p:ph idx="2" type="body"/>
          </p:nvPr>
        </p:nvSpPr>
        <p:spPr>
          <a:xfrm>
            <a:off x="9525" y="3409950"/>
            <a:ext cx="6391200" cy="11382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400">
                <a:solidFill>
                  <a:schemeClr val="dk2"/>
                </a:solidFill>
              </a:defRPr>
            </a:lvl1pPr>
            <a:lvl2pPr indent="-342900" lvl="1" marL="914400" algn="l">
              <a:spcBef>
                <a:spcPts val="1200"/>
              </a:spcBef>
              <a:spcAft>
                <a:spcPts val="0"/>
              </a:spcAft>
              <a:buSzPts val="1800"/>
              <a:buChar char="○"/>
              <a:defRPr/>
            </a:lvl2pPr>
            <a:lvl3pPr indent="-342900" lvl="2" marL="1371600" algn="l">
              <a:spcBef>
                <a:spcPts val="1200"/>
              </a:spcBef>
              <a:spcAft>
                <a:spcPts val="0"/>
              </a:spcAft>
              <a:buSzPts val="1800"/>
              <a:buChar char="■"/>
              <a:defRPr/>
            </a:lvl3pPr>
            <a:lvl4pPr indent="-342900" lvl="3" marL="1828800" algn="l">
              <a:spcBef>
                <a:spcPts val="1200"/>
              </a:spcBef>
              <a:spcAft>
                <a:spcPts val="0"/>
              </a:spcAft>
              <a:buSzPts val="1800"/>
              <a:buChar char="●"/>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pic>
        <p:nvPicPr>
          <p:cNvPr id="54" name="Google Shape;54;p13"/>
          <p:cNvPicPr preferRelativeResize="0"/>
          <p:nvPr/>
        </p:nvPicPr>
        <p:blipFill rotWithShape="1">
          <a:blip r:embed="rId2">
            <a:alphaModFix amt="15000"/>
          </a:blip>
          <a:srcRect b="0" l="0" r="26253" t="0"/>
          <a:stretch/>
        </p:blipFill>
        <p:spPr>
          <a:xfrm>
            <a:off x="4876800" y="68012"/>
            <a:ext cx="4257675" cy="5051855"/>
          </a:xfrm>
          <a:prstGeom prst="rect">
            <a:avLst/>
          </a:prstGeom>
          <a:noFill/>
          <a:ln>
            <a:noFill/>
          </a:ln>
        </p:spPr>
      </p:pic>
      <p:sp>
        <p:nvSpPr>
          <p:cNvPr id="55" name="Google Shape;55;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solidFill>
                  <a:schemeClr val="dk2"/>
                </a:solidFill>
              </a:defRPr>
            </a:lvl1pPr>
            <a:lvl2pPr lvl="1">
              <a:buNone/>
              <a:defRPr sz="1300">
                <a:solidFill>
                  <a:schemeClr val="dk2"/>
                </a:solidFill>
              </a:defRPr>
            </a:lvl2pPr>
            <a:lvl3pPr lvl="2">
              <a:buNone/>
              <a:defRPr sz="1300">
                <a:solidFill>
                  <a:schemeClr val="dk2"/>
                </a:solidFill>
              </a:defRPr>
            </a:lvl3pPr>
            <a:lvl4pPr lvl="3">
              <a:buNone/>
              <a:defRPr sz="1300">
                <a:solidFill>
                  <a:schemeClr val="dk2"/>
                </a:solidFill>
              </a:defRPr>
            </a:lvl4pPr>
            <a:lvl5pPr lvl="4">
              <a:buNone/>
              <a:defRPr sz="1300">
                <a:solidFill>
                  <a:schemeClr val="dk2"/>
                </a:solidFill>
              </a:defRPr>
            </a:lvl5pPr>
            <a:lvl6pPr lvl="5">
              <a:buNone/>
              <a:defRPr sz="1300">
                <a:solidFill>
                  <a:schemeClr val="dk2"/>
                </a:solidFill>
              </a:defRPr>
            </a:lvl6pPr>
            <a:lvl7pPr lvl="6">
              <a:buNone/>
              <a:defRPr sz="1300">
                <a:solidFill>
                  <a:schemeClr val="dk2"/>
                </a:solidFill>
              </a:defRPr>
            </a:lvl7pPr>
            <a:lvl8pPr lvl="7">
              <a:buNone/>
              <a:defRPr sz="1300">
                <a:solidFill>
                  <a:schemeClr val="dk2"/>
                </a:solidFill>
              </a:defRPr>
            </a:lvl8pPr>
            <a:lvl9pPr lvl="8">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p:cSld name="Main Title">
    <p:spTree>
      <p:nvGrpSpPr>
        <p:cNvPr id="64" name="Shape 64"/>
        <p:cNvGrpSpPr/>
        <p:nvPr/>
      </p:nvGrpSpPr>
      <p:grpSpPr>
        <a:xfrm>
          <a:off x="0" y="0"/>
          <a:ext cx="0" cy="0"/>
          <a:chOff x="0" y="0"/>
          <a:chExt cx="0" cy="0"/>
        </a:xfrm>
      </p:grpSpPr>
      <p:sp>
        <p:nvSpPr>
          <p:cNvPr id="65" name="Google Shape;65;p15"/>
          <p:cNvSpPr txBox="1"/>
          <p:nvPr>
            <p:ph type="title"/>
          </p:nvPr>
        </p:nvSpPr>
        <p:spPr>
          <a:xfrm>
            <a:off x="0" y="280025"/>
            <a:ext cx="6096000" cy="1314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subTitle"/>
          </p:nvPr>
        </p:nvSpPr>
        <p:spPr>
          <a:xfrm>
            <a:off x="0" y="1616869"/>
            <a:ext cx="6400800" cy="13146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2"/>
              </a:buClr>
              <a:buSzPts val="1600"/>
              <a:buFont typeface="Arial"/>
              <a:buNone/>
              <a:defRPr sz="1600">
                <a:solidFill>
                  <a:schemeClr val="dk2"/>
                </a:solidFill>
              </a:defRPr>
            </a:lvl1pPr>
            <a:lvl2pPr lvl="1" algn="l">
              <a:spcBef>
                <a:spcPts val="0"/>
              </a:spcBef>
              <a:spcAft>
                <a:spcPts val="0"/>
              </a:spcAft>
              <a:buSzPts val="1800"/>
              <a:buChar char="•"/>
              <a:defRPr/>
            </a:lvl2pPr>
            <a:lvl3pPr lvl="2" algn="l">
              <a:spcBef>
                <a:spcPts val="0"/>
              </a:spcBef>
              <a:spcAft>
                <a:spcPts val="0"/>
              </a:spcAft>
              <a:buSzPts val="1800"/>
              <a:buChar char="o"/>
              <a:defRPr/>
            </a:lvl3pPr>
            <a:lvl4pPr lvl="3" algn="l">
              <a:spcBef>
                <a:spcPts val="0"/>
              </a:spcBef>
              <a:spcAft>
                <a:spcPts val="0"/>
              </a:spcAft>
              <a:buSzPts val="1800"/>
              <a:buChar char="▪"/>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2" type="body"/>
          </p:nvPr>
        </p:nvSpPr>
        <p:spPr>
          <a:xfrm>
            <a:off x="9525" y="3409950"/>
            <a:ext cx="6391200" cy="11382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400"/>
              <a:buNone/>
              <a:defRPr sz="1400">
                <a:solidFill>
                  <a:schemeClr val="dk2"/>
                </a:solidFil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pic>
        <p:nvPicPr>
          <p:cNvPr id="68" name="Google Shape;68;p15"/>
          <p:cNvPicPr preferRelativeResize="0"/>
          <p:nvPr/>
        </p:nvPicPr>
        <p:blipFill rotWithShape="1">
          <a:blip r:embed="rId2">
            <a:alphaModFix amt="15000"/>
          </a:blip>
          <a:srcRect b="0" l="0" r="26253" t="0"/>
          <a:stretch/>
        </p:blipFill>
        <p:spPr>
          <a:xfrm>
            <a:off x="4876800" y="68012"/>
            <a:ext cx="4257675" cy="5051855"/>
          </a:xfrm>
          <a:prstGeom prst="rect">
            <a:avLst/>
          </a:prstGeom>
          <a:noFill/>
          <a:ln>
            <a:noFill/>
          </a:ln>
        </p:spPr>
      </p:pic>
      <p:sp>
        <p:nvSpPr>
          <p:cNvPr id="69" name="Google Shape;69;p15"/>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buNone/>
              <a:defRPr sz="1300">
                <a:solidFill>
                  <a:schemeClr val="dk2"/>
                </a:solidFill>
              </a:defRPr>
            </a:lvl1pPr>
            <a:lvl2pPr lvl="1">
              <a:buNone/>
              <a:defRPr sz="1300">
                <a:solidFill>
                  <a:schemeClr val="dk2"/>
                </a:solidFill>
              </a:defRPr>
            </a:lvl2pPr>
            <a:lvl3pPr lvl="2">
              <a:buNone/>
              <a:defRPr sz="1300">
                <a:solidFill>
                  <a:schemeClr val="dk2"/>
                </a:solidFill>
              </a:defRPr>
            </a:lvl3pPr>
            <a:lvl4pPr lvl="3">
              <a:buNone/>
              <a:defRPr sz="1300">
                <a:solidFill>
                  <a:schemeClr val="dk2"/>
                </a:solidFill>
              </a:defRPr>
            </a:lvl4pPr>
            <a:lvl5pPr lvl="4">
              <a:buNone/>
              <a:defRPr sz="1300">
                <a:solidFill>
                  <a:schemeClr val="dk2"/>
                </a:solidFill>
              </a:defRPr>
            </a:lvl5pPr>
            <a:lvl6pPr lvl="5">
              <a:buNone/>
              <a:defRPr sz="1300">
                <a:solidFill>
                  <a:schemeClr val="dk2"/>
                </a:solidFill>
              </a:defRPr>
            </a:lvl6pPr>
            <a:lvl7pPr lvl="6">
              <a:buNone/>
              <a:defRPr sz="1300">
                <a:solidFill>
                  <a:schemeClr val="dk2"/>
                </a:solidFill>
              </a:defRPr>
            </a:lvl7pPr>
            <a:lvl8pPr lvl="7">
              <a:buNone/>
              <a:defRPr sz="1300">
                <a:solidFill>
                  <a:schemeClr val="dk2"/>
                </a:solidFill>
              </a:defRPr>
            </a:lvl8pPr>
            <a:lvl9pPr lvl="8">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0" name="Shape 70"/>
        <p:cNvGrpSpPr/>
        <p:nvPr/>
      </p:nvGrpSpPr>
      <p:grpSpPr>
        <a:xfrm>
          <a:off x="0" y="0"/>
          <a:ext cx="0" cy="0"/>
          <a:chOff x="0" y="0"/>
          <a:chExt cx="0" cy="0"/>
        </a:xfrm>
      </p:grpSpPr>
      <p:sp>
        <p:nvSpPr>
          <p:cNvPr id="71" name="Google Shape;71;p16"/>
          <p:cNvSpPr txBox="1"/>
          <p:nvPr>
            <p:ph type="title"/>
          </p:nvPr>
        </p:nvSpPr>
        <p:spPr>
          <a:xfrm>
            <a:off x="101600" y="280025"/>
            <a:ext cx="8869800" cy="548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1" type="ftr"/>
          </p:nvPr>
        </p:nvSpPr>
        <p:spPr>
          <a:xfrm>
            <a:off x="2743200" y="4767263"/>
            <a:ext cx="5638800" cy="274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chemeClr val="lt1"/>
                </a:solidFill>
                <a:latin typeface="Arial"/>
                <a:ea typeface="Arial"/>
                <a:cs typeface="Arial"/>
                <a:sym typeface="Arial"/>
              </a:defRPr>
            </a:lvl1pPr>
            <a:lvl2pPr indent="0" lvl="1" marL="0" algn="r">
              <a:spcBef>
                <a:spcPts val="0"/>
              </a:spcBef>
              <a:buNone/>
              <a:defRPr b="1" i="0" sz="1200" u="none" cap="none" strike="noStrike">
                <a:solidFill>
                  <a:schemeClr val="lt1"/>
                </a:solidFill>
                <a:latin typeface="Arial"/>
                <a:ea typeface="Arial"/>
                <a:cs typeface="Arial"/>
                <a:sym typeface="Arial"/>
              </a:defRPr>
            </a:lvl2pPr>
            <a:lvl3pPr indent="0" lvl="2" marL="0" algn="r">
              <a:spcBef>
                <a:spcPts val="0"/>
              </a:spcBef>
              <a:buNone/>
              <a:defRPr b="1" i="0" sz="1200" u="none" cap="none" strike="noStrike">
                <a:solidFill>
                  <a:schemeClr val="lt1"/>
                </a:solidFill>
                <a:latin typeface="Arial"/>
                <a:ea typeface="Arial"/>
                <a:cs typeface="Arial"/>
                <a:sym typeface="Arial"/>
              </a:defRPr>
            </a:lvl3pPr>
            <a:lvl4pPr indent="0" lvl="3" marL="0" algn="r">
              <a:spcBef>
                <a:spcPts val="0"/>
              </a:spcBef>
              <a:buNone/>
              <a:defRPr b="1" i="0" sz="1200" u="none" cap="none" strike="noStrike">
                <a:solidFill>
                  <a:schemeClr val="lt1"/>
                </a:solidFill>
                <a:latin typeface="Arial"/>
                <a:ea typeface="Arial"/>
                <a:cs typeface="Arial"/>
                <a:sym typeface="Arial"/>
              </a:defRPr>
            </a:lvl4pPr>
            <a:lvl5pPr indent="0" lvl="4" marL="0" algn="r">
              <a:spcBef>
                <a:spcPts val="0"/>
              </a:spcBef>
              <a:buNone/>
              <a:defRPr b="1" i="0" sz="1200" u="none" cap="none" strike="noStrike">
                <a:solidFill>
                  <a:schemeClr val="lt1"/>
                </a:solidFill>
                <a:latin typeface="Arial"/>
                <a:ea typeface="Arial"/>
                <a:cs typeface="Arial"/>
                <a:sym typeface="Arial"/>
              </a:defRPr>
            </a:lvl5pPr>
            <a:lvl6pPr indent="0" lvl="5" marL="0" algn="r">
              <a:spcBef>
                <a:spcPts val="0"/>
              </a:spcBef>
              <a:buNone/>
              <a:defRPr b="1" i="0" sz="1200" u="none" cap="none" strike="noStrike">
                <a:solidFill>
                  <a:schemeClr val="lt1"/>
                </a:solidFill>
                <a:latin typeface="Arial"/>
                <a:ea typeface="Arial"/>
                <a:cs typeface="Arial"/>
                <a:sym typeface="Arial"/>
              </a:defRPr>
            </a:lvl6pPr>
            <a:lvl7pPr indent="0" lvl="6" marL="0" algn="r">
              <a:spcBef>
                <a:spcPts val="0"/>
              </a:spcBef>
              <a:buNone/>
              <a:defRPr b="1" i="0" sz="1200" u="none" cap="none" strike="noStrike">
                <a:solidFill>
                  <a:schemeClr val="lt1"/>
                </a:solidFill>
                <a:latin typeface="Arial"/>
                <a:ea typeface="Arial"/>
                <a:cs typeface="Arial"/>
                <a:sym typeface="Arial"/>
              </a:defRPr>
            </a:lvl7pPr>
            <a:lvl8pPr indent="0" lvl="7" marL="0" algn="r">
              <a:spcBef>
                <a:spcPts val="0"/>
              </a:spcBef>
              <a:buNone/>
              <a:defRPr b="1" i="0" sz="1200" u="none" cap="none" strike="noStrike">
                <a:solidFill>
                  <a:schemeClr val="lt1"/>
                </a:solidFill>
                <a:latin typeface="Arial"/>
                <a:ea typeface="Arial"/>
                <a:cs typeface="Arial"/>
                <a:sym typeface="Arial"/>
              </a:defRPr>
            </a:lvl8pPr>
            <a:lvl9pPr indent="0" lvl="8" marL="0" algn="r">
              <a:spcBef>
                <a:spcPts val="0"/>
              </a:spcBef>
              <a:buNone/>
              <a:defRPr b="1"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6"/>
          <p:cNvSpPr txBox="1"/>
          <p:nvPr>
            <p:ph idx="1" type="body"/>
          </p:nvPr>
        </p:nvSpPr>
        <p:spPr>
          <a:xfrm>
            <a:off x="4572000" y="57150"/>
            <a:ext cx="4398900" cy="155700"/>
          </a:xfrm>
          <a:prstGeom prst="rect">
            <a:avLst/>
          </a:prstGeom>
          <a:noFill/>
          <a:ln>
            <a:noFill/>
          </a:ln>
        </p:spPr>
        <p:txBody>
          <a:bodyPr anchorCtr="0" anchor="ctr" bIns="45700" lIns="91425" spcFirstLastPara="1" rIns="91425" wrap="square" tIns="45700">
            <a:noAutofit/>
          </a:bodyPr>
          <a:lstStyle>
            <a:lvl1pPr indent="-228600" lvl="0" marL="457200" algn="r">
              <a:spcBef>
                <a:spcPts val="0"/>
              </a:spcBef>
              <a:spcAft>
                <a:spcPts val="0"/>
              </a:spcAft>
              <a:buSzPts val="1400"/>
              <a:buNone/>
              <a:defRPr i="1" sz="1200">
                <a:solidFill>
                  <a:schemeClr val="dk1"/>
                </a:solidFil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showMasterSp="0">
  <p:cSld name="Section Title">
    <p:bg>
      <p:bgPr>
        <a:solidFill>
          <a:srgbClr val="F3F3F3"/>
        </a:solidFill>
      </p:bgPr>
    </p:bg>
    <p:spTree>
      <p:nvGrpSpPr>
        <p:cNvPr id="75" name="Shape 75"/>
        <p:cNvGrpSpPr/>
        <p:nvPr/>
      </p:nvGrpSpPr>
      <p:grpSpPr>
        <a:xfrm>
          <a:off x="0" y="0"/>
          <a:ext cx="0" cy="0"/>
          <a:chOff x="0" y="0"/>
          <a:chExt cx="0" cy="0"/>
        </a:xfrm>
      </p:grpSpPr>
      <p:sp>
        <p:nvSpPr>
          <p:cNvPr id="76" name="Google Shape;76;p17"/>
          <p:cNvSpPr/>
          <p:nvPr/>
        </p:nvSpPr>
        <p:spPr>
          <a:xfrm>
            <a:off x="0" y="0"/>
            <a:ext cx="9142709" cy="5139385"/>
          </a:xfrm>
          <a:custGeom>
            <a:rect b="b" l="l" r="r" t="t"/>
            <a:pathLst>
              <a:path extrusionOk="0" h="4758690" w="8769985">
                <a:moveTo>
                  <a:pt x="8769599" y="0"/>
                </a:moveTo>
                <a:lnTo>
                  <a:pt x="0" y="0"/>
                </a:lnTo>
                <a:lnTo>
                  <a:pt x="0" y="4758600"/>
                </a:lnTo>
                <a:lnTo>
                  <a:pt x="8769599" y="4758600"/>
                </a:lnTo>
                <a:lnTo>
                  <a:pt x="876959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 name="Google Shape;77;p17"/>
          <p:cNvSpPr txBox="1"/>
          <p:nvPr>
            <p:ph idx="1" type="body"/>
          </p:nvPr>
        </p:nvSpPr>
        <p:spPr>
          <a:xfrm>
            <a:off x="2642015" y="2371695"/>
            <a:ext cx="3860100" cy="492300"/>
          </a:xfrm>
          <a:prstGeom prst="rect">
            <a:avLst/>
          </a:prstGeom>
          <a:noFill/>
          <a:ln>
            <a:noFill/>
          </a:ln>
        </p:spPr>
        <p:txBody>
          <a:bodyPr anchorCtr="0" anchor="t" bIns="0" lIns="0" spcFirstLastPara="1" rIns="0" wrap="square" tIns="0">
            <a:spAutoFit/>
          </a:bodyPr>
          <a:lstStyle>
            <a:lvl1pPr indent="-228600" lvl="0" marL="457200" algn="ctr">
              <a:spcBef>
                <a:spcPts val="0"/>
              </a:spcBef>
              <a:spcAft>
                <a:spcPts val="0"/>
              </a:spcAft>
              <a:buSzPts val="1400"/>
              <a:buNone/>
              <a:defRPr b="1" i="0" sz="3200">
                <a:solidFill>
                  <a:schemeClr val="lt1"/>
                </a:solidFill>
                <a:latin typeface="Arial"/>
                <a:ea typeface="Arial"/>
                <a:cs typeface="Arial"/>
                <a:sym typeface="Aria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8" name="Google Shape;78;p17"/>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Content">
  <p:cSld name="Title and Text Content">
    <p:spTree>
      <p:nvGrpSpPr>
        <p:cNvPr id="79" name="Shape 79"/>
        <p:cNvGrpSpPr/>
        <p:nvPr/>
      </p:nvGrpSpPr>
      <p:grpSpPr>
        <a:xfrm>
          <a:off x="0" y="0"/>
          <a:ext cx="0" cy="0"/>
          <a:chOff x="0" y="0"/>
          <a:chExt cx="0" cy="0"/>
        </a:xfrm>
      </p:grpSpPr>
      <p:sp>
        <p:nvSpPr>
          <p:cNvPr id="80" name="Google Shape;80;p18"/>
          <p:cNvSpPr txBox="1"/>
          <p:nvPr>
            <p:ph type="title"/>
          </p:nvPr>
        </p:nvSpPr>
        <p:spPr>
          <a:xfrm>
            <a:off x="101600" y="280025"/>
            <a:ext cx="8869800" cy="548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8"/>
          <p:cNvSpPr txBox="1"/>
          <p:nvPr>
            <p:ph idx="11" type="ftr"/>
          </p:nvPr>
        </p:nvSpPr>
        <p:spPr>
          <a:xfrm>
            <a:off x="2743200" y="4767262"/>
            <a:ext cx="5638800" cy="274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18"/>
          <p:cNvSpPr txBox="1"/>
          <p:nvPr>
            <p:ph idx="1" type="body"/>
          </p:nvPr>
        </p:nvSpPr>
        <p:spPr>
          <a:xfrm>
            <a:off x="101284" y="895350"/>
            <a:ext cx="8869800" cy="38100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400"/>
              <a:buNone/>
              <a:defRPr sz="1600">
                <a:solidFill>
                  <a:schemeClr val="dk1"/>
                </a:solidFill>
              </a:defRPr>
            </a:lvl1pPr>
            <a:lvl2pPr indent="-330200" lvl="1" marL="914400" algn="l">
              <a:spcBef>
                <a:spcPts val="0"/>
              </a:spcBef>
              <a:spcAft>
                <a:spcPts val="0"/>
              </a:spcAft>
              <a:buClr>
                <a:schemeClr val="dk1"/>
              </a:buClr>
              <a:buSzPts val="1600"/>
              <a:buChar char="•"/>
              <a:defRPr sz="1600">
                <a:solidFill>
                  <a:schemeClr val="dk1"/>
                </a:solidFill>
              </a:defRPr>
            </a:lvl2pPr>
            <a:lvl3pPr indent="-317500" lvl="2" marL="1371600" algn="l">
              <a:spcBef>
                <a:spcPts val="0"/>
              </a:spcBef>
              <a:spcAft>
                <a:spcPts val="0"/>
              </a:spcAft>
              <a:buClr>
                <a:schemeClr val="dk1"/>
              </a:buClr>
              <a:buSzPts val="1400"/>
              <a:buChar char="o"/>
              <a:defRPr sz="1400">
                <a:solidFill>
                  <a:schemeClr val="dk1"/>
                </a:solidFill>
              </a:defRPr>
            </a:lvl3pPr>
            <a:lvl4pPr indent="-317500" lvl="3" marL="1828800" algn="l">
              <a:spcBef>
                <a:spcPts val="0"/>
              </a:spcBef>
              <a:spcAft>
                <a:spcPts val="0"/>
              </a:spcAft>
              <a:buClr>
                <a:schemeClr val="dk1"/>
              </a:buClr>
              <a:buSzPts val="1400"/>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18"/>
          <p:cNvSpPr txBox="1"/>
          <p:nvPr>
            <p:ph idx="2" type="body"/>
          </p:nvPr>
        </p:nvSpPr>
        <p:spPr>
          <a:xfrm>
            <a:off x="4572000" y="57150"/>
            <a:ext cx="4398900" cy="155700"/>
          </a:xfrm>
          <a:prstGeom prst="rect">
            <a:avLst/>
          </a:prstGeom>
          <a:noFill/>
          <a:ln>
            <a:noFill/>
          </a:ln>
        </p:spPr>
        <p:txBody>
          <a:bodyPr anchorCtr="0" anchor="ctr" bIns="45700" lIns="91425" spcFirstLastPara="1" rIns="91425" wrap="square" tIns="45700">
            <a:noAutofit/>
          </a:bodyPr>
          <a:lstStyle>
            <a:lvl1pPr indent="-228600" lvl="0" marL="457200" algn="r">
              <a:spcBef>
                <a:spcPts val="0"/>
              </a:spcBef>
              <a:spcAft>
                <a:spcPts val="0"/>
              </a:spcAft>
              <a:buSzPts val="1400"/>
              <a:buNone/>
              <a:defRPr i="1" sz="1200">
                <a:solidFill>
                  <a:schemeClr val="dk1"/>
                </a:solidFil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Meeting">
  <p:cSld name="Team Meeting">
    <p:spTree>
      <p:nvGrpSpPr>
        <p:cNvPr id="85" name="Shape 85"/>
        <p:cNvGrpSpPr/>
        <p:nvPr/>
      </p:nvGrpSpPr>
      <p:grpSpPr>
        <a:xfrm>
          <a:off x="0" y="0"/>
          <a:ext cx="0" cy="0"/>
          <a:chOff x="0" y="0"/>
          <a:chExt cx="0" cy="0"/>
        </a:xfrm>
      </p:grpSpPr>
      <p:sp>
        <p:nvSpPr>
          <p:cNvPr id="86" name="Google Shape;86;p19"/>
          <p:cNvSpPr txBox="1"/>
          <p:nvPr>
            <p:ph type="title"/>
          </p:nvPr>
        </p:nvSpPr>
        <p:spPr>
          <a:xfrm>
            <a:off x="101600" y="280025"/>
            <a:ext cx="8869800" cy="5487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1" type="ftr"/>
          </p:nvPr>
        </p:nvSpPr>
        <p:spPr>
          <a:xfrm>
            <a:off x="2743200" y="4767263"/>
            <a:ext cx="5638800" cy="274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9"/>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sz="1000"/>
          </a:p>
        </p:txBody>
      </p:sp>
      <p:grpSp>
        <p:nvGrpSpPr>
          <p:cNvPr id="89" name="Google Shape;89;p19"/>
          <p:cNvGrpSpPr/>
          <p:nvPr/>
        </p:nvGrpSpPr>
        <p:grpSpPr>
          <a:xfrm>
            <a:off x="187311" y="828537"/>
            <a:ext cx="1717786" cy="1285720"/>
            <a:chOff x="0" y="1145"/>
            <a:chExt cx="2801" cy="2138"/>
          </a:xfrm>
        </p:grpSpPr>
        <p:pic>
          <p:nvPicPr>
            <p:cNvPr descr="magnifier" id="90" name="Google Shape;90;p19"/>
            <p:cNvPicPr preferRelativeResize="0"/>
            <p:nvPr/>
          </p:nvPicPr>
          <p:blipFill rotWithShape="1">
            <a:blip r:embed="rId2">
              <a:alphaModFix/>
            </a:blip>
            <a:srcRect b="14607" l="2980" r="22515" t="9548"/>
            <a:stretch/>
          </p:blipFill>
          <p:spPr>
            <a:xfrm>
              <a:off x="0" y="1145"/>
              <a:ext cx="2801" cy="2138"/>
            </a:xfrm>
            <a:prstGeom prst="rect">
              <a:avLst/>
            </a:prstGeom>
            <a:noFill/>
            <a:ln>
              <a:noFill/>
            </a:ln>
          </p:spPr>
        </p:pic>
        <p:sp>
          <p:nvSpPr>
            <p:cNvPr id="91" name="Google Shape;91;p19"/>
            <p:cNvSpPr/>
            <p:nvPr/>
          </p:nvSpPr>
          <p:spPr>
            <a:xfrm flipH="1">
              <a:off x="875" y="1313"/>
              <a:ext cx="1800" cy="1800"/>
            </a:xfrm>
            <a:prstGeom prst="ellipse">
              <a:avLst/>
            </a:prstGeom>
            <a:gradFill>
              <a:gsLst>
                <a:gs pos="0">
                  <a:srgbClr val="DDDDDD">
                    <a:alpha val="84705"/>
                  </a:srgbClr>
                </a:gs>
                <a:gs pos="100000">
                  <a:srgbClr val="FFFF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sp>
          <p:nvSpPr>
            <p:cNvPr id="92" name="Google Shape;92;p19"/>
            <p:cNvSpPr txBox="1"/>
            <p:nvPr/>
          </p:nvSpPr>
          <p:spPr>
            <a:xfrm>
              <a:off x="890" y="1816"/>
              <a:ext cx="1800" cy="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200">
                  <a:solidFill>
                    <a:srgbClr val="8E1500"/>
                  </a:solidFill>
                  <a:latin typeface="Arial"/>
                  <a:ea typeface="Arial"/>
                  <a:cs typeface="Arial"/>
                  <a:sym typeface="Arial"/>
                </a:rPr>
                <a:t>Team</a:t>
              </a:r>
              <a:br>
                <a:rPr b="1" lang="en" sz="1200">
                  <a:solidFill>
                    <a:srgbClr val="8E1500"/>
                  </a:solidFill>
                  <a:latin typeface="Arial"/>
                  <a:ea typeface="Arial"/>
                  <a:cs typeface="Arial"/>
                  <a:sym typeface="Arial"/>
                </a:rPr>
              </a:br>
              <a:r>
                <a:rPr b="1" lang="en" sz="1200">
                  <a:solidFill>
                    <a:srgbClr val="8E1500"/>
                  </a:solidFill>
                  <a:latin typeface="Arial"/>
                  <a:ea typeface="Arial"/>
                  <a:cs typeface="Arial"/>
                  <a:sym typeface="Arial"/>
                </a:rPr>
                <a:t>Meeting</a:t>
              </a:r>
              <a:endParaRPr/>
            </a:p>
          </p:txBody>
        </p:sp>
        <p:sp>
          <p:nvSpPr>
            <p:cNvPr id="93" name="Google Shape;93;p19"/>
            <p:cNvSpPr/>
            <p:nvPr/>
          </p:nvSpPr>
          <p:spPr>
            <a:xfrm>
              <a:off x="880" y="1304"/>
              <a:ext cx="1800" cy="1800"/>
            </a:xfrm>
            <a:prstGeom prst="ellipse">
              <a:avLst/>
            </a:prstGeom>
            <a:noFill/>
            <a:ln cap="flat" cmpd="sng" w="28575">
              <a:solidFill>
                <a:srgbClr val="3333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grpSp>
      <p:sp>
        <p:nvSpPr>
          <p:cNvPr id="94" name="Google Shape;94;p19"/>
          <p:cNvSpPr txBox="1"/>
          <p:nvPr>
            <p:ph idx="1" type="body"/>
          </p:nvPr>
        </p:nvSpPr>
        <p:spPr>
          <a:xfrm>
            <a:off x="2057400" y="923925"/>
            <a:ext cx="6913500" cy="37815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400"/>
              <a:buNone/>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19"/>
          <p:cNvSpPr txBox="1"/>
          <p:nvPr>
            <p:ph idx="2" type="body"/>
          </p:nvPr>
        </p:nvSpPr>
        <p:spPr>
          <a:xfrm>
            <a:off x="4572000" y="57150"/>
            <a:ext cx="4398900" cy="155700"/>
          </a:xfrm>
          <a:prstGeom prst="rect">
            <a:avLst/>
          </a:prstGeom>
          <a:noFill/>
          <a:ln>
            <a:noFill/>
          </a:ln>
        </p:spPr>
        <p:txBody>
          <a:bodyPr anchorCtr="0" anchor="ctr" bIns="45700" lIns="91425" spcFirstLastPara="1" rIns="91425" wrap="square" tIns="45700">
            <a:noAutofit/>
          </a:bodyPr>
          <a:lstStyle>
            <a:lvl1pPr indent="-228600" lvl="0" marL="457200" algn="r">
              <a:spcBef>
                <a:spcPts val="0"/>
              </a:spcBef>
              <a:spcAft>
                <a:spcPts val="0"/>
              </a:spcAft>
              <a:buSzPts val="1400"/>
              <a:buNone/>
              <a:defRPr i="1" sz="1200">
                <a:solidFill>
                  <a:schemeClr val="accent1"/>
                </a:solidFil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dcrumb Only" showMasterSp="0">
  <p:cSld name="Breadcrumb Only">
    <p:spTree>
      <p:nvGrpSpPr>
        <p:cNvPr id="96" name="Shape 96"/>
        <p:cNvGrpSpPr/>
        <p:nvPr/>
      </p:nvGrpSpPr>
      <p:grpSpPr>
        <a:xfrm>
          <a:off x="0" y="0"/>
          <a:ext cx="0" cy="0"/>
          <a:chOff x="0" y="0"/>
          <a:chExt cx="0" cy="0"/>
        </a:xfrm>
      </p:grpSpPr>
      <p:sp>
        <p:nvSpPr>
          <p:cNvPr id="97" name="Google Shape;97;p20"/>
          <p:cNvSpPr txBox="1"/>
          <p:nvPr>
            <p:ph idx="11" type="ftr"/>
          </p:nvPr>
        </p:nvSpPr>
        <p:spPr>
          <a:xfrm>
            <a:off x="2743200" y="4767263"/>
            <a:ext cx="5638800" cy="2745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2"/>
                </a:solidFill>
                <a:latin typeface="Arial"/>
                <a:ea typeface="Arial"/>
                <a:cs typeface="Arial"/>
                <a:sym typeface="Arial"/>
              </a:defRPr>
            </a:lvl1pPr>
            <a:lvl2pPr indent="0" lvl="1" marL="0" algn="r">
              <a:spcBef>
                <a:spcPts val="0"/>
              </a:spcBef>
              <a:buNone/>
              <a:defRPr b="1" sz="1200">
                <a:solidFill>
                  <a:schemeClr val="dk2"/>
                </a:solidFill>
                <a:latin typeface="Arial"/>
                <a:ea typeface="Arial"/>
                <a:cs typeface="Arial"/>
                <a:sym typeface="Arial"/>
              </a:defRPr>
            </a:lvl2pPr>
            <a:lvl3pPr indent="0" lvl="2" marL="0" algn="r">
              <a:spcBef>
                <a:spcPts val="0"/>
              </a:spcBef>
              <a:buNone/>
              <a:defRPr b="1" sz="1200">
                <a:solidFill>
                  <a:schemeClr val="dk2"/>
                </a:solidFill>
                <a:latin typeface="Arial"/>
                <a:ea typeface="Arial"/>
                <a:cs typeface="Arial"/>
                <a:sym typeface="Arial"/>
              </a:defRPr>
            </a:lvl3pPr>
            <a:lvl4pPr indent="0" lvl="3" marL="0" algn="r">
              <a:spcBef>
                <a:spcPts val="0"/>
              </a:spcBef>
              <a:buNone/>
              <a:defRPr b="1" sz="1200">
                <a:solidFill>
                  <a:schemeClr val="dk2"/>
                </a:solidFill>
                <a:latin typeface="Arial"/>
                <a:ea typeface="Arial"/>
                <a:cs typeface="Arial"/>
                <a:sym typeface="Arial"/>
              </a:defRPr>
            </a:lvl4pPr>
            <a:lvl5pPr indent="0" lvl="4" marL="0" algn="r">
              <a:spcBef>
                <a:spcPts val="0"/>
              </a:spcBef>
              <a:buNone/>
              <a:defRPr b="1" sz="1200">
                <a:solidFill>
                  <a:schemeClr val="dk2"/>
                </a:solidFill>
                <a:latin typeface="Arial"/>
                <a:ea typeface="Arial"/>
                <a:cs typeface="Arial"/>
                <a:sym typeface="Arial"/>
              </a:defRPr>
            </a:lvl5pPr>
            <a:lvl6pPr indent="0" lvl="5" marL="0" algn="r">
              <a:spcBef>
                <a:spcPts val="0"/>
              </a:spcBef>
              <a:buNone/>
              <a:defRPr b="1" sz="1200">
                <a:solidFill>
                  <a:schemeClr val="dk2"/>
                </a:solidFill>
                <a:latin typeface="Arial"/>
                <a:ea typeface="Arial"/>
                <a:cs typeface="Arial"/>
                <a:sym typeface="Arial"/>
              </a:defRPr>
            </a:lvl6pPr>
            <a:lvl7pPr indent="0" lvl="6" marL="0" algn="r">
              <a:spcBef>
                <a:spcPts val="0"/>
              </a:spcBef>
              <a:buNone/>
              <a:defRPr b="1" sz="1200">
                <a:solidFill>
                  <a:schemeClr val="dk2"/>
                </a:solidFill>
                <a:latin typeface="Arial"/>
                <a:ea typeface="Arial"/>
                <a:cs typeface="Arial"/>
                <a:sym typeface="Arial"/>
              </a:defRPr>
            </a:lvl7pPr>
            <a:lvl8pPr indent="0" lvl="7" marL="0" algn="r">
              <a:spcBef>
                <a:spcPts val="0"/>
              </a:spcBef>
              <a:buNone/>
              <a:defRPr b="1" sz="1200">
                <a:solidFill>
                  <a:schemeClr val="dk2"/>
                </a:solidFill>
                <a:latin typeface="Arial"/>
                <a:ea typeface="Arial"/>
                <a:cs typeface="Arial"/>
                <a:sym typeface="Arial"/>
              </a:defRPr>
            </a:lvl8pPr>
            <a:lvl9pPr indent="0" lvl="8" marL="0" algn="r">
              <a:spcBef>
                <a:spcPts val="0"/>
              </a:spcBef>
              <a:buNone/>
              <a:defRPr b="1"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20"/>
          <p:cNvSpPr txBox="1"/>
          <p:nvPr>
            <p:ph idx="1" type="body"/>
          </p:nvPr>
        </p:nvSpPr>
        <p:spPr>
          <a:xfrm>
            <a:off x="4572000" y="57150"/>
            <a:ext cx="4398900" cy="155700"/>
          </a:xfrm>
          <a:prstGeom prst="rect">
            <a:avLst/>
          </a:prstGeom>
          <a:noFill/>
          <a:ln>
            <a:noFill/>
          </a:ln>
        </p:spPr>
        <p:txBody>
          <a:bodyPr anchorCtr="0" anchor="ctr" bIns="45700" lIns="91425" spcFirstLastPara="1" rIns="91425" wrap="square" tIns="45700">
            <a:noAutofit/>
          </a:bodyPr>
          <a:lstStyle>
            <a:lvl1pPr indent="-228600" lvl="0" marL="457200" algn="r">
              <a:spcBef>
                <a:spcPts val="0"/>
              </a:spcBef>
              <a:spcAft>
                <a:spcPts val="0"/>
              </a:spcAft>
              <a:buSzPts val="1400"/>
              <a:buNone/>
              <a:defRPr i="1" sz="1200">
                <a:solidFill>
                  <a:schemeClr val="dk1"/>
                </a:solidFill>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0" name="Shape 100"/>
        <p:cNvGrpSpPr/>
        <p:nvPr/>
      </p:nvGrpSpPr>
      <p:grpSpPr>
        <a:xfrm>
          <a:off x="0" y="0"/>
          <a:ext cx="0" cy="0"/>
          <a:chOff x="0" y="0"/>
          <a:chExt cx="0" cy="0"/>
        </a:xfrm>
      </p:grpSpPr>
      <p:sp>
        <p:nvSpPr>
          <p:cNvPr id="101" name="Google Shape;101;p21"/>
          <p:cNvSpPr/>
          <p:nvPr/>
        </p:nvSpPr>
        <p:spPr>
          <a:xfrm>
            <a:off x="12" y="0"/>
            <a:ext cx="3490800" cy="5143500"/>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1"/>
          <p:cNvSpPr txBox="1"/>
          <p:nvPr>
            <p:ph type="title"/>
          </p:nvPr>
        </p:nvSpPr>
        <p:spPr>
          <a:xfrm>
            <a:off x="482600" y="589788"/>
            <a:ext cx="2638200" cy="1570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b="0" sz="27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1"/>
          <p:cNvSpPr txBox="1"/>
          <p:nvPr>
            <p:ph idx="1" type="body"/>
          </p:nvPr>
        </p:nvSpPr>
        <p:spPr>
          <a:xfrm>
            <a:off x="4094238" y="609600"/>
            <a:ext cx="4446300" cy="39711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400"/>
              <a:buNone/>
              <a:defRPr/>
            </a:lvl1pPr>
            <a:lvl2pPr indent="-342900" lvl="1" marL="914400" algn="l">
              <a:spcBef>
                <a:spcPts val="0"/>
              </a:spcBef>
              <a:spcAft>
                <a:spcPts val="0"/>
              </a:spcAft>
              <a:buSzPts val="1800"/>
              <a:buChar char="•"/>
              <a:defRPr/>
            </a:lvl2pPr>
            <a:lvl3pPr indent="-342900" lvl="2" marL="1371600" algn="l">
              <a:spcBef>
                <a:spcPts val="0"/>
              </a:spcBef>
              <a:spcAft>
                <a:spcPts val="0"/>
              </a:spcAft>
              <a:buSzPts val="1800"/>
              <a:buChar char="o"/>
              <a:defRPr/>
            </a:lvl3pPr>
            <a:lvl4pPr indent="-342900" lvl="3" marL="1828800" algn="l">
              <a:spcBef>
                <a:spcPts val="0"/>
              </a:spcBef>
              <a:spcAft>
                <a:spcPts val="0"/>
              </a:spcAft>
              <a:buSzPts val="1800"/>
              <a:buChar char="▪"/>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1"/>
          <p:cNvSpPr txBox="1"/>
          <p:nvPr>
            <p:ph idx="2" type="body"/>
          </p:nvPr>
        </p:nvSpPr>
        <p:spPr>
          <a:xfrm>
            <a:off x="482599" y="2282288"/>
            <a:ext cx="2638200" cy="22983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Clr>
                <a:srgbClr val="FFFFFF"/>
              </a:buClr>
              <a:buSzPts val="1350"/>
              <a:buFont typeface="Arial"/>
              <a:buNone/>
              <a:defRPr sz="1350">
                <a:solidFill>
                  <a:srgbClr val="FFFFFF"/>
                </a:solidFill>
              </a:defRPr>
            </a:lvl1pPr>
            <a:lvl2pPr indent="-228600" lvl="1" marL="914400" algn="l">
              <a:spcBef>
                <a:spcPts val="0"/>
              </a:spcBef>
              <a:spcAft>
                <a:spcPts val="0"/>
              </a:spcAft>
              <a:buSzPts val="900"/>
              <a:buNone/>
              <a:defRPr sz="900"/>
            </a:lvl2pPr>
            <a:lvl3pPr indent="-228600" lvl="2" marL="1371600" algn="l">
              <a:spcBef>
                <a:spcPts val="0"/>
              </a:spcBef>
              <a:spcAft>
                <a:spcPts val="0"/>
              </a:spcAft>
              <a:buSzPts val="750"/>
              <a:buNone/>
              <a:defRPr sz="750"/>
            </a:lvl3pPr>
            <a:lvl4pPr indent="-228600" lvl="3" marL="1828800" algn="l">
              <a:spcBef>
                <a:spcPts val="0"/>
              </a:spcBef>
              <a:spcAft>
                <a:spcPts val="0"/>
              </a:spcAft>
              <a:buSzPts val="675"/>
              <a:buNone/>
              <a:defRPr sz="675"/>
            </a:lvl4pPr>
            <a:lvl5pPr indent="-228600" lvl="4" marL="2286000" algn="l">
              <a:spcBef>
                <a:spcPts val="0"/>
              </a:spcBef>
              <a:spcAft>
                <a:spcPts val="0"/>
              </a:spcAft>
              <a:buClr>
                <a:schemeClr val="dk1"/>
              </a:buClr>
              <a:buSzPts val="675"/>
              <a:buFont typeface="Arial"/>
              <a:buNone/>
              <a:defRPr sz="675"/>
            </a:lvl5pPr>
            <a:lvl6pPr indent="-228600" lvl="5" marL="2743200" algn="l">
              <a:spcBef>
                <a:spcPts val="0"/>
              </a:spcBef>
              <a:spcAft>
                <a:spcPts val="0"/>
              </a:spcAft>
              <a:buSzPts val="675"/>
              <a:buFont typeface="Arial"/>
              <a:buNone/>
              <a:defRPr sz="675"/>
            </a:lvl6pPr>
            <a:lvl7pPr indent="-228600" lvl="6" marL="3200400" algn="l">
              <a:spcBef>
                <a:spcPts val="0"/>
              </a:spcBef>
              <a:spcAft>
                <a:spcPts val="0"/>
              </a:spcAft>
              <a:buSzPts val="675"/>
              <a:buFont typeface="Arial"/>
              <a:buNone/>
              <a:defRPr sz="675"/>
            </a:lvl7pPr>
            <a:lvl8pPr indent="-228600" lvl="7" marL="3657600" algn="l">
              <a:spcBef>
                <a:spcPts val="0"/>
              </a:spcBef>
              <a:spcAft>
                <a:spcPts val="0"/>
              </a:spcAft>
              <a:buSzPts val="675"/>
              <a:buFont typeface="Arial"/>
              <a:buNone/>
              <a:defRPr sz="675"/>
            </a:lvl8pPr>
            <a:lvl9pPr indent="-228600" lvl="8" marL="4114800" algn="l">
              <a:spcBef>
                <a:spcPts val="0"/>
              </a:spcBef>
              <a:spcAft>
                <a:spcPts val="0"/>
              </a:spcAft>
              <a:buSzPts val="675"/>
              <a:buFont typeface="Arial"/>
              <a:buNone/>
              <a:defRPr sz="675"/>
            </a:lvl9pPr>
          </a:lstStyle>
          <a:p/>
        </p:txBody>
      </p:sp>
      <p:sp>
        <p:nvSpPr>
          <p:cNvPr id="105" name="Google Shape;105;p21"/>
          <p:cNvSpPr txBox="1"/>
          <p:nvPr>
            <p:ph idx="10" type="dt"/>
          </p:nvPr>
        </p:nvSpPr>
        <p:spPr>
          <a:xfrm>
            <a:off x="482598" y="4834890"/>
            <a:ext cx="2638200" cy="2739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6" name="Google Shape;106;p21"/>
          <p:cNvSpPr txBox="1"/>
          <p:nvPr>
            <p:ph idx="11" type="ftr"/>
          </p:nvPr>
        </p:nvSpPr>
        <p:spPr>
          <a:xfrm>
            <a:off x="4094238" y="4834890"/>
            <a:ext cx="40005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1"/>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2"/>
                </a:solidFill>
                <a:latin typeface="Arial"/>
                <a:ea typeface="Arial"/>
                <a:cs typeface="Arial"/>
                <a:sym typeface="Arial"/>
              </a:defRPr>
            </a:lvl1pPr>
            <a:lvl2pPr indent="0" lvl="1" marL="0" algn="r">
              <a:spcBef>
                <a:spcPts val="0"/>
              </a:spcBef>
              <a:buNone/>
              <a:defRPr b="1" sz="1200">
                <a:solidFill>
                  <a:schemeClr val="dk2"/>
                </a:solidFill>
                <a:latin typeface="Arial"/>
                <a:ea typeface="Arial"/>
                <a:cs typeface="Arial"/>
                <a:sym typeface="Arial"/>
              </a:defRPr>
            </a:lvl2pPr>
            <a:lvl3pPr indent="0" lvl="2" marL="0" algn="r">
              <a:spcBef>
                <a:spcPts val="0"/>
              </a:spcBef>
              <a:buNone/>
              <a:defRPr b="1" sz="1200">
                <a:solidFill>
                  <a:schemeClr val="dk2"/>
                </a:solidFill>
                <a:latin typeface="Arial"/>
                <a:ea typeface="Arial"/>
                <a:cs typeface="Arial"/>
                <a:sym typeface="Arial"/>
              </a:defRPr>
            </a:lvl3pPr>
            <a:lvl4pPr indent="0" lvl="3" marL="0" algn="r">
              <a:spcBef>
                <a:spcPts val="0"/>
              </a:spcBef>
              <a:buNone/>
              <a:defRPr b="1" sz="1200">
                <a:solidFill>
                  <a:schemeClr val="dk2"/>
                </a:solidFill>
                <a:latin typeface="Arial"/>
                <a:ea typeface="Arial"/>
                <a:cs typeface="Arial"/>
                <a:sym typeface="Arial"/>
              </a:defRPr>
            </a:lvl4pPr>
            <a:lvl5pPr indent="0" lvl="4" marL="0" algn="r">
              <a:spcBef>
                <a:spcPts val="0"/>
              </a:spcBef>
              <a:buNone/>
              <a:defRPr b="1" sz="1200">
                <a:solidFill>
                  <a:schemeClr val="dk2"/>
                </a:solidFill>
                <a:latin typeface="Arial"/>
                <a:ea typeface="Arial"/>
                <a:cs typeface="Arial"/>
                <a:sym typeface="Arial"/>
              </a:defRPr>
            </a:lvl5pPr>
            <a:lvl6pPr indent="0" lvl="5" marL="0" algn="r">
              <a:spcBef>
                <a:spcPts val="0"/>
              </a:spcBef>
              <a:buNone/>
              <a:defRPr b="1" sz="1200">
                <a:solidFill>
                  <a:schemeClr val="dk2"/>
                </a:solidFill>
                <a:latin typeface="Arial"/>
                <a:ea typeface="Arial"/>
                <a:cs typeface="Arial"/>
                <a:sym typeface="Arial"/>
              </a:defRPr>
            </a:lvl6pPr>
            <a:lvl7pPr indent="0" lvl="6" marL="0" algn="r">
              <a:spcBef>
                <a:spcPts val="0"/>
              </a:spcBef>
              <a:buNone/>
              <a:defRPr b="1" sz="1200">
                <a:solidFill>
                  <a:schemeClr val="dk2"/>
                </a:solidFill>
                <a:latin typeface="Arial"/>
                <a:ea typeface="Arial"/>
                <a:cs typeface="Arial"/>
                <a:sym typeface="Arial"/>
              </a:defRPr>
            </a:lvl7pPr>
            <a:lvl8pPr indent="0" lvl="7" marL="0" algn="r">
              <a:spcBef>
                <a:spcPts val="0"/>
              </a:spcBef>
              <a:buNone/>
              <a:defRPr b="1" sz="1200">
                <a:solidFill>
                  <a:schemeClr val="dk2"/>
                </a:solidFill>
                <a:latin typeface="Arial"/>
                <a:ea typeface="Arial"/>
                <a:cs typeface="Arial"/>
                <a:sym typeface="Arial"/>
              </a:defRPr>
            </a:lvl8pPr>
            <a:lvl9pPr indent="0" lvl="8" marL="0" algn="r">
              <a:spcBef>
                <a:spcPts val="0"/>
              </a:spcBef>
              <a:buNone/>
              <a:defRPr b="1" sz="1200">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8" name="Shape 108"/>
        <p:cNvGrpSpPr/>
        <p:nvPr/>
      </p:nvGrpSpPr>
      <p:grpSpPr>
        <a:xfrm>
          <a:off x="0" y="0"/>
          <a:ext cx="0" cy="0"/>
          <a:chOff x="0" y="0"/>
          <a:chExt cx="0" cy="0"/>
        </a:xfrm>
      </p:grpSpPr>
      <p:sp>
        <p:nvSpPr>
          <p:cNvPr id="109" name="Google Shape;109;p22"/>
          <p:cNvSpPr txBox="1"/>
          <p:nvPr>
            <p:ph type="ctrTitle"/>
          </p:nvPr>
        </p:nvSpPr>
        <p:spPr>
          <a:xfrm>
            <a:off x="311708" y="744575"/>
            <a:ext cx="8520600" cy="2052600"/>
          </a:xfrm>
          <a:prstGeom prst="rect">
            <a:avLst/>
          </a:prstGeom>
        </p:spPr>
        <p:txBody>
          <a:bodyPr anchorCtr="0" anchor="b" bIns="45700" lIns="91425" spcFirstLastPara="1" rIns="91425" wrap="square" tIns="4570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0" name="Google Shape;110;p22"/>
          <p:cNvSpPr txBox="1"/>
          <p:nvPr>
            <p:ph idx="1" type="subTitle"/>
          </p:nvPr>
        </p:nvSpPr>
        <p:spPr>
          <a:xfrm>
            <a:off x="311700" y="2834125"/>
            <a:ext cx="8520600" cy="792600"/>
          </a:xfrm>
          <a:prstGeom prst="rect">
            <a:avLst/>
          </a:prstGeom>
        </p:spPr>
        <p:txBody>
          <a:bodyPr anchorCtr="0" anchor="t" bIns="45700" lIns="91425" spcFirstLastPara="1" rIns="91425" wrap="square" tIns="457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1" name="Google Shape;111;p22"/>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1.xml"/><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flipH="1" rot="10800000">
            <a:off x="0" y="4705369"/>
            <a:ext cx="9144000" cy="444000"/>
          </a:xfrm>
          <a:prstGeom prst="rect">
            <a:avLst/>
          </a:prstGeom>
          <a:solidFill>
            <a:schemeClr val="accen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58" name="Google Shape;58;p14"/>
          <p:cNvCxnSpPr/>
          <p:nvPr/>
        </p:nvCxnSpPr>
        <p:spPr>
          <a:xfrm>
            <a:off x="101600" y="247386"/>
            <a:ext cx="8869800" cy="0"/>
          </a:xfrm>
          <a:prstGeom prst="straightConnector1">
            <a:avLst/>
          </a:prstGeom>
          <a:noFill/>
          <a:ln cap="flat" cmpd="sng" w="25400">
            <a:solidFill>
              <a:schemeClr val="accent1"/>
            </a:solidFill>
            <a:prstDash val="solid"/>
            <a:round/>
            <a:headEnd len="sm" w="sm" type="none"/>
            <a:tailEnd len="sm" w="sm" type="none"/>
          </a:ln>
        </p:spPr>
      </p:cxnSp>
      <p:sp>
        <p:nvSpPr>
          <p:cNvPr id="59" name="Google Shape;59;p14"/>
          <p:cNvSpPr txBox="1"/>
          <p:nvPr>
            <p:ph type="title"/>
          </p:nvPr>
        </p:nvSpPr>
        <p:spPr>
          <a:xfrm>
            <a:off x="101600" y="280025"/>
            <a:ext cx="8869800" cy="5487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14"/>
          <p:cNvSpPr txBox="1"/>
          <p:nvPr>
            <p:ph idx="11" type="ftr"/>
          </p:nvPr>
        </p:nvSpPr>
        <p:spPr>
          <a:xfrm>
            <a:off x="2743200" y="4767263"/>
            <a:ext cx="5638800" cy="2745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1" name="Google Shape;61;p14"/>
          <p:cNvSpPr txBox="1"/>
          <p:nvPr>
            <p:ph idx="12" type="sldNum"/>
          </p:nvPr>
        </p:nvSpPr>
        <p:spPr>
          <a:xfrm>
            <a:off x="8458200" y="4767263"/>
            <a:ext cx="513000" cy="2745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i="0" sz="1200" u="none" cap="none" strike="noStrike">
                <a:solidFill>
                  <a:schemeClr val="lt1"/>
                </a:solidFill>
                <a:latin typeface="Arial"/>
                <a:ea typeface="Arial"/>
                <a:cs typeface="Arial"/>
                <a:sym typeface="Arial"/>
              </a:defRPr>
            </a:lvl1pPr>
            <a:lvl2pPr indent="0" lvl="1" marL="0" marR="0" algn="r">
              <a:spcBef>
                <a:spcPts val="0"/>
              </a:spcBef>
              <a:buNone/>
              <a:defRPr b="1" i="0" sz="1200" u="none" cap="none" strike="noStrike">
                <a:solidFill>
                  <a:schemeClr val="lt1"/>
                </a:solidFill>
                <a:latin typeface="Arial"/>
                <a:ea typeface="Arial"/>
                <a:cs typeface="Arial"/>
                <a:sym typeface="Arial"/>
              </a:defRPr>
            </a:lvl2pPr>
            <a:lvl3pPr indent="0" lvl="2" marL="0" marR="0" algn="r">
              <a:spcBef>
                <a:spcPts val="0"/>
              </a:spcBef>
              <a:buNone/>
              <a:defRPr b="1" i="0" sz="1200" u="none" cap="none" strike="noStrike">
                <a:solidFill>
                  <a:schemeClr val="lt1"/>
                </a:solidFill>
                <a:latin typeface="Arial"/>
                <a:ea typeface="Arial"/>
                <a:cs typeface="Arial"/>
                <a:sym typeface="Arial"/>
              </a:defRPr>
            </a:lvl3pPr>
            <a:lvl4pPr indent="0" lvl="3" marL="0" marR="0" algn="r">
              <a:spcBef>
                <a:spcPts val="0"/>
              </a:spcBef>
              <a:buNone/>
              <a:defRPr b="1" i="0" sz="1200" u="none" cap="none" strike="noStrike">
                <a:solidFill>
                  <a:schemeClr val="lt1"/>
                </a:solidFill>
                <a:latin typeface="Arial"/>
                <a:ea typeface="Arial"/>
                <a:cs typeface="Arial"/>
                <a:sym typeface="Arial"/>
              </a:defRPr>
            </a:lvl4pPr>
            <a:lvl5pPr indent="0" lvl="4" marL="0" marR="0" algn="r">
              <a:spcBef>
                <a:spcPts val="0"/>
              </a:spcBef>
              <a:buNone/>
              <a:defRPr b="1" i="0" sz="1200" u="none" cap="none" strike="noStrike">
                <a:solidFill>
                  <a:schemeClr val="lt1"/>
                </a:solidFill>
                <a:latin typeface="Arial"/>
                <a:ea typeface="Arial"/>
                <a:cs typeface="Arial"/>
                <a:sym typeface="Arial"/>
              </a:defRPr>
            </a:lvl5pPr>
            <a:lvl6pPr indent="0" lvl="5" marL="0" marR="0" algn="r">
              <a:spcBef>
                <a:spcPts val="0"/>
              </a:spcBef>
              <a:buNone/>
              <a:defRPr b="1" i="0" sz="1200" u="none" cap="none" strike="noStrike">
                <a:solidFill>
                  <a:schemeClr val="lt1"/>
                </a:solidFill>
                <a:latin typeface="Arial"/>
                <a:ea typeface="Arial"/>
                <a:cs typeface="Arial"/>
                <a:sym typeface="Arial"/>
              </a:defRPr>
            </a:lvl6pPr>
            <a:lvl7pPr indent="0" lvl="6" marL="0" marR="0" algn="r">
              <a:spcBef>
                <a:spcPts val="0"/>
              </a:spcBef>
              <a:buNone/>
              <a:defRPr b="1" i="0" sz="1200" u="none" cap="none" strike="noStrike">
                <a:solidFill>
                  <a:schemeClr val="lt1"/>
                </a:solidFill>
                <a:latin typeface="Arial"/>
                <a:ea typeface="Arial"/>
                <a:cs typeface="Arial"/>
                <a:sym typeface="Arial"/>
              </a:defRPr>
            </a:lvl7pPr>
            <a:lvl8pPr indent="0" lvl="7" marL="0" marR="0" algn="r">
              <a:spcBef>
                <a:spcPts val="0"/>
              </a:spcBef>
              <a:buNone/>
              <a:defRPr b="1" i="0" sz="1200" u="none" cap="none" strike="noStrike">
                <a:solidFill>
                  <a:schemeClr val="lt1"/>
                </a:solidFill>
                <a:latin typeface="Arial"/>
                <a:ea typeface="Arial"/>
                <a:cs typeface="Arial"/>
                <a:sym typeface="Arial"/>
              </a:defRPr>
            </a:lvl8pPr>
            <a:lvl9pPr indent="0" lvl="8" marL="0" marR="0" algn="r">
              <a:spcBef>
                <a:spcPts val="0"/>
              </a:spcBef>
              <a:buNone/>
              <a:defRPr b="1"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4"/>
          <p:cNvSpPr txBox="1"/>
          <p:nvPr>
            <p:ph idx="1" type="body"/>
          </p:nvPr>
        </p:nvSpPr>
        <p:spPr>
          <a:xfrm>
            <a:off x="101600" y="895350"/>
            <a:ext cx="8869800" cy="3810000"/>
          </a:xfrm>
          <a:prstGeom prst="rect">
            <a:avLst/>
          </a:prstGeom>
          <a:noFill/>
          <a:ln>
            <a:noFill/>
          </a:ln>
        </p:spPr>
        <p:txBody>
          <a:bodyPr anchorCtr="0" anchor="t" bIns="45700" lIns="91425" spcFirstLastPara="1" rIns="91425" wrap="square" tIns="45700">
            <a:normAutofit/>
          </a:bodyPr>
          <a:lstStyle>
            <a:lvl1pPr indent="-228600" lvl="0" marL="457200" marR="0" algn="l">
              <a:spcBef>
                <a:spcPts val="0"/>
              </a:spcBef>
              <a:spcAft>
                <a:spcPts val="0"/>
              </a:spcAft>
              <a:buSzPts val="1400"/>
              <a:buNone/>
              <a:defRPr b="0" i="0" sz="1600" u="none" cap="none" strike="noStrike">
                <a:latin typeface="Arial"/>
                <a:ea typeface="Arial"/>
                <a:cs typeface="Arial"/>
                <a:sym typeface="Arial"/>
              </a:defRPr>
            </a:lvl1pPr>
            <a:lvl2pPr indent="-330200" lvl="1" marL="914400" marR="0" algn="l">
              <a:spcBef>
                <a:spcPts val="0"/>
              </a:spcBef>
              <a:spcAft>
                <a:spcPts val="0"/>
              </a:spcAft>
              <a:buSzPts val="1600"/>
              <a:buFont typeface="Arial"/>
              <a:buChar char="•"/>
              <a:defRPr b="0" i="0" sz="1600" u="none" cap="none" strike="noStrike">
                <a:latin typeface="Arial"/>
                <a:ea typeface="Arial"/>
                <a:cs typeface="Arial"/>
                <a:sym typeface="Arial"/>
              </a:defRPr>
            </a:lvl2pPr>
            <a:lvl3pPr indent="-317500" lvl="2" marL="1371600" marR="0" algn="l">
              <a:spcBef>
                <a:spcPts val="0"/>
              </a:spcBef>
              <a:spcAft>
                <a:spcPts val="0"/>
              </a:spcAft>
              <a:buSzPts val="1400"/>
              <a:buFont typeface="Courier New"/>
              <a:buChar char="o"/>
              <a:defRPr b="0" i="0" sz="1400" u="none" cap="none" strike="noStrike">
                <a:latin typeface="Arial"/>
                <a:ea typeface="Arial"/>
                <a:cs typeface="Arial"/>
                <a:sym typeface="Arial"/>
              </a:defRPr>
            </a:lvl3pPr>
            <a:lvl4pPr indent="-317500" lvl="3" marL="1828800" marR="0" algn="l">
              <a:spcBef>
                <a:spcPts val="0"/>
              </a:spcBef>
              <a:spcAft>
                <a:spcPts val="0"/>
              </a:spcAft>
              <a:buSzPts val="1400"/>
              <a:buFont typeface="Noto Sans Symbols"/>
              <a:buChar char="▪"/>
              <a:defRPr b="0" i="0" sz="1400" u="none" cap="none" strike="noStrike">
                <a:latin typeface="Arial"/>
                <a:ea typeface="Arial"/>
                <a:cs typeface="Arial"/>
                <a:sym typeface="Arial"/>
              </a:defRPr>
            </a:lvl4pPr>
            <a:lvl5pPr indent="-228600" lvl="4" marL="2286000" marR="0" algn="l">
              <a:spcBef>
                <a:spcPts val="0"/>
              </a:spcBef>
              <a:spcAft>
                <a:spcPts val="0"/>
              </a:spcAft>
              <a:buSzPts val="1400"/>
              <a:buNone/>
              <a:defRPr b="0" i="0" sz="1400" u="none" cap="none" strike="noStrike">
                <a:solidFill>
                  <a:schemeClr val="dk1"/>
                </a:solidFill>
                <a:latin typeface="Arial"/>
                <a:ea typeface="Arial"/>
                <a:cs typeface="Arial"/>
                <a:sym typeface="Arial"/>
              </a:defRPr>
            </a:lvl5pPr>
            <a:lvl6pPr indent="-228600" lvl="5" marL="2743200" marR="0" algn="l">
              <a:spcBef>
                <a:spcPts val="0"/>
              </a:spcBef>
              <a:spcAft>
                <a:spcPts val="0"/>
              </a:spcAft>
              <a:buSzPts val="1400"/>
              <a:buNone/>
              <a:defRPr b="0" i="0" sz="1800" u="none" cap="none" strike="noStrike">
                <a:latin typeface="Arial"/>
                <a:ea typeface="Arial"/>
                <a:cs typeface="Arial"/>
                <a:sym typeface="Arial"/>
              </a:defRPr>
            </a:lvl6pPr>
            <a:lvl7pPr indent="-228600" lvl="6" marL="3200400" marR="0" algn="l">
              <a:spcBef>
                <a:spcPts val="0"/>
              </a:spcBef>
              <a:spcAft>
                <a:spcPts val="0"/>
              </a:spcAft>
              <a:buSzPts val="1400"/>
              <a:buNone/>
              <a:defRPr b="0" i="0" sz="1800" u="none" cap="none" strike="noStrike">
                <a:latin typeface="Arial"/>
                <a:ea typeface="Arial"/>
                <a:cs typeface="Arial"/>
                <a:sym typeface="Arial"/>
              </a:defRPr>
            </a:lvl7pPr>
            <a:lvl8pPr indent="-228600" lvl="7" marL="3657600" marR="0" algn="l">
              <a:spcBef>
                <a:spcPts val="0"/>
              </a:spcBef>
              <a:spcAft>
                <a:spcPts val="0"/>
              </a:spcAft>
              <a:buSzPts val="1400"/>
              <a:buNone/>
              <a:defRPr b="0" i="0" sz="1800" u="none" cap="none" strike="noStrike">
                <a:latin typeface="Arial"/>
                <a:ea typeface="Arial"/>
                <a:cs typeface="Arial"/>
                <a:sym typeface="Arial"/>
              </a:defRPr>
            </a:lvl8pPr>
            <a:lvl9pPr indent="-228600" lvl="8" marL="4114800" marR="0" algn="l">
              <a:spcBef>
                <a:spcPts val="0"/>
              </a:spcBef>
              <a:spcAft>
                <a:spcPts val="0"/>
              </a:spcAft>
              <a:buSzPts val="1400"/>
              <a:buNone/>
              <a:defRPr b="0" i="0" sz="1800" u="none" cap="none" strike="noStrike">
                <a:latin typeface="Arial"/>
                <a:ea typeface="Arial"/>
                <a:cs typeface="Arial"/>
                <a:sym typeface="Arial"/>
              </a:defRPr>
            </a:lvl9pPr>
          </a:lstStyle>
          <a:p/>
        </p:txBody>
      </p:sp>
      <p:pic>
        <p:nvPicPr>
          <p:cNvPr id="63" name="Google Shape;63;p14"/>
          <p:cNvPicPr preferRelativeResize="0"/>
          <p:nvPr/>
        </p:nvPicPr>
        <p:blipFill rotWithShape="1">
          <a:blip r:embed="rId1">
            <a:alphaModFix/>
          </a:blip>
          <a:srcRect b="0" l="0" r="0" t="0"/>
          <a:stretch/>
        </p:blipFill>
        <p:spPr>
          <a:xfrm>
            <a:off x="-71121" y="4678452"/>
            <a:ext cx="2844938" cy="47548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nvSpPr>
        <p:spPr>
          <a:xfrm>
            <a:off x="248125" y="3300750"/>
            <a:ext cx="2713500" cy="78630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1018"/>
              <a:buNone/>
            </a:pPr>
            <a:r>
              <a:rPr lang="en" sz="1366"/>
              <a:t>December 9th, 2025</a:t>
            </a:r>
            <a:endParaRPr sz="1366"/>
          </a:p>
          <a:p>
            <a:pPr indent="0" lvl="0" marL="0" rtl="0" algn="l">
              <a:lnSpc>
                <a:spcPct val="95000"/>
              </a:lnSpc>
              <a:spcBef>
                <a:spcPts val="0"/>
              </a:spcBef>
              <a:spcAft>
                <a:spcPts val="0"/>
              </a:spcAft>
              <a:buSzPts val="1018"/>
              <a:buNone/>
            </a:pPr>
            <a:r>
              <a:t/>
            </a:r>
            <a:endParaRPr b="1" sz="1250"/>
          </a:p>
          <a:p>
            <a:pPr indent="0" lvl="0" marL="0" rtl="0" algn="l">
              <a:lnSpc>
                <a:spcPct val="95000"/>
              </a:lnSpc>
              <a:spcBef>
                <a:spcPts val="0"/>
              </a:spcBef>
              <a:spcAft>
                <a:spcPts val="0"/>
              </a:spcAft>
              <a:buSzPts val="1018"/>
              <a:buNone/>
            </a:pPr>
            <a:r>
              <a:rPr lang="en" sz="1250"/>
              <a:t>Leo Liu, Jiayi Yao, </a:t>
            </a:r>
            <a:r>
              <a:rPr lang="en" sz="1250"/>
              <a:t>Yunelle Teng</a:t>
            </a:r>
            <a:endParaRPr sz="1250" u="sng"/>
          </a:p>
          <a:p>
            <a:pPr indent="0" lvl="0" marL="0" rtl="0" algn="l">
              <a:lnSpc>
                <a:spcPct val="95000"/>
              </a:lnSpc>
              <a:spcBef>
                <a:spcPts val="0"/>
              </a:spcBef>
              <a:spcAft>
                <a:spcPts val="0"/>
              </a:spcAft>
              <a:buSzPts val="1018"/>
              <a:buNone/>
            </a:pPr>
            <a:r>
              <a:t/>
            </a:r>
            <a:endParaRPr sz="610">
              <a:solidFill>
                <a:srgbClr val="110E0E"/>
              </a:solidFill>
            </a:endParaRPr>
          </a:p>
        </p:txBody>
      </p:sp>
      <p:sp>
        <p:nvSpPr>
          <p:cNvPr id="117" name="Google Shape;117;p23"/>
          <p:cNvSpPr txBox="1"/>
          <p:nvPr/>
        </p:nvSpPr>
        <p:spPr>
          <a:xfrm>
            <a:off x="248125" y="575600"/>
            <a:ext cx="4806600" cy="217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900"/>
              <a:t>Cross-Sectional Returns in the Chinese Stock Market: A Rank-Based Regression Analysis</a:t>
            </a:r>
            <a:endParaRPr b="1" sz="2900"/>
          </a:p>
        </p:txBody>
      </p:sp>
      <p:sp>
        <p:nvSpPr>
          <p:cNvPr id="118" name="Google Shape;118;p23"/>
          <p:cNvSpPr txBox="1"/>
          <p:nvPr/>
        </p:nvSpPr>
        <p:spPr>
          <a:xfrm>
            <a:off x="8645475" y="4775375"/>
            <a:ext cx="288600" cy="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rPr>
              <a:t>1</a:t>
            </a:r>
            <a:endParaRPr b="1" sz="1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idx="12" type="sldNum"/>
          </p:nvPr>
        </p:nvSpPr>
        <p:spPr>
          <a:xfrm>
            <a:off x="8458200" y="4767263"/>
            <a:ext cx="513000" cy="2745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24" name="Google Shape;124;p24"/>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Agenda</a:t>
            </a:r>
            <a:endParaRPr/>
          </a:p>
        </p:txBody>
      </p:sp>
      <p:sp>
        <p:nvSpPr>
          <p:cNvPr id="125" name="Google Shape;125;p24"/>
          <p:cNvSpPr txBox="1"/>
          <p:nvPr/>
        </p:nvSpPr>
        <p:spPr>
          <a:xfrm>
            <a:off x="635000" y="828725"/>
            <a:ext cx="6070500" cy="39387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Introduction</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Data Description</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Feature Engineering</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Model Specification</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Variable Selection</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Results and Interpretation</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Prediction (Out-of-Sample)</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Sensitivity Analysis</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Model Limitations &amp; Improvements</a:t>
            </a:r>
            <a:endParaRPr b="1" sz="1200">
              <a:solidFill>
                <a:srgbClr val="273540"/>
              </a:solidFill>
            </a:endParaRPr>
          </a:p>
          <a:p>
            <a:pPr indent="-304800" lvl="0" marL="457200" rtl="0" algn="l">
              <a:lnSpc>
                <a:spcPct val="200000"/>
              </a:lnSpc>
              <a:spcBef>
                <a:spcPts val="0"/>
              </a:spcBef>
              <a:spcAft>
                <a:spcPts val="0"/>
              </a:spcAft>
              <a:buClr>
                <a:srgbClr val="273540"/>
              </a:buClr>
              <a:buSzPts val="1200"/>
              <a:buAutoNum type="arabicPeriod"/>
            </a:pPr>
            <a:r>
              <a:rPr b="1" lang="en" sz="1200">
                <a:solidFill>
                  <a:srgbClr val="273540"/>
                </a:solidFill>
              </a:rPr>
              <a:t>Conclusion</a:t>
            </a:r>
            <a:endParaRPr b="1" sz="1200">
              <a:solidFill>
                <a:srgbClr val="273540"/>
              </a:solidFill>
            </a:endParaRPr>
          </a:p>
          <a:p>
            <a:pPr indent="0" lvl="0" marL="0" rtl="0" algn="l">
              <a:lnSpc>
                <a:spcPct val="200000"/>
              </a:lnSpc>
              <a:spcBef>
                <a:spcPts val="0"/>
              </a:spcBef>
              <a:spcAft>
                <a:spcPts val="0"/>
              </a:spcAft>
              <a:buNone/>
            </a:pPr>
            <a:r>
              <a:t/>
            </a:r>
            <a:endParaRPr b="1" sz="1200">
              <a:solidFill>
                <a:srgbClr val="27354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12" type="sldNum"/>
          </p:nvPr>
        </p:nvSpPr>
        <p:spPr>
          <a:xfrm>
            <a:off x="8458200" y="4767263"/>
            <a:ext cx="513000" cy="2745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1" name="Google Shape;131;p25"/>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Introduction</a:t>
            </a:r>
            <a:endParaRPr sz="2000"/>
          </a:p>
        </p:txBody>
      </p:sp>
      <p:sp>
        <p:nvSpPr>
          <p:cNvPr id="132" name="Google Shape;132;p25"/>
          <p:cNvSpPr txBox="1"/>
          <p:nvPr/>
        </p:nvSpPr>
        <p:spPr>
          <a:xfrm>
            <a:off x="2748525" y="958150"/>
            <a:ext cx="6097500" cy="34233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i="1" lang="en" sz="1300">
                <a:solidFill>
                  <a:schemeClr val="dk1"/>
                </a:solidFill>
              </a:rPr>
              <a:t>Research Question</a:t>
            </a:r>
            <a:endParaRPr b="1" i="1" sz="1300">
              <a:solidFill>
                <a:schemeClr val="dk1"/>
              </a:solidFill>
            </a:endParaRPr>
          </a:p>
          <a:p>
            <a:pPr indent="0" lvl="0" marL="0" rtl="0" algn="l">
              <a:lnSpc>
                <a:spcPct val="115000"/>
              </a:lnSpc>
              <a:spcBef>
                <a:spcPts val="1200"/>
              </a:spcBef>
              <a:spcAft>
                <a:spcPts val="0"/>
              </a:spcAft>
              <a:buNone/>
            </a:pPr>
            <a:r>
              <a:rPr lang="en" sz="1100">
                <a:solidFill>
                  <a:srgbClr val="262626"/>
                </a:solidFill>
              </a:rPr>
              <a:t> To explain the cross-sectional variation of </a:t>
            </a:r>
            <a:r>
              <a:rPr i="1" lang="en" sz="1100">
                <a:solidFill>
                  <a:schemeClr val="dk1"/>
                </a:solidFill>
              </a:rPr>
              <a:t>monthly excess returns</a:t>
            </a:r>
            <a:r>
              <a:rPr lang="en" sz="1100">
                <a:solidFill>
                  <a:srgbClr val="262626"/>
                </a:solidFill>
              </a:rPr>
              <a:t> in the Chinese stock market.</a:t>
            </a:r>
            <a:endParaRPr sz="1100">
              <a:solidFill>
                <a:srgbClr val="262626"/>
              </a:solidFill>
            </a:endParaRPr>
          </a:p>
          <a:p>
            <a:pPr indent="0" lvl="0" marL="0" rtl="0" algn="l">
              <a:lnSpc>
                <a:spcPct val="115000"/>
              </a:lnSpc>
              <a:spcBef>
                <a:spcPts val="1200"/>
              </a:spcBef>
              <a:spcAft>
                <a:spcPts val="0"/>
              </a:spcAft>
              <a:buNone/>
            </a:pPr>
            <a:r>
              <a:rPr b="1" i="1" lang="en" sz="1300">
                <a:solidFill>
                  <a:schemeClr val="dk1"/>
                </a:solidFill>
              </a:rPr>
              <a:t>Applied Context</a:t>
            </a:r>
            <a:endParaRPr b="1" i="1" sz="1100">
              <a:solidFill>
                <a:srgbClr val="666666"/>
              </a:solidFill>
            </a:endParaRPr>
          </a:p>
          <a:p>
            <a:pPr indent="-298450" lvl="0" marL="457200" rtl="0" algn="l">
              <a:lnSpc>
                <a:spcPct val="115000"/>
              </a:lnSpc>
              <a:spcBef>
                <a:spcPts val="1200"/>
              </a:spcBef>
              <a:spcAft>
                <a:spcPts val="0"/>
              </a:spcAft>
              <a:buClr>
                <a:srgbClr val="262626"/>
              </a:buClr>
              <a:buSzPts val="1100"/>
              <a:buChar char="●"/>
            </a:pPr>
            <a:r>
              <a:rPr b="1" lang="en" sz="1100">
                <a:solidFill>
                  <a:srgbClr val="262626"/>
                </a:solidFill>
              </a:rPr>
              <a:t>Investment Strategy:</a:t>
            </a:r>
            <a:r>
              <a:rPr lang="en" sz="1100">
                <a:solidFill>
                  <a:srgbClr val="262626"/>
                </a:solidFill>
              </a:rPr>
              <a:t> Results guide </a:t>
            </a:r>
            <a:r>
              <a:rPr i="1" lang="en" sz="1100">
                <a:solidFill>
                  <a:schemeClr val="dk1"/>
                </a:solidFill>
              </a:rPr>
              <a:t>Quantitative Factor Investing</a:t>
            </a:r>
            <a:r>
              <a:rPr lang="en" sz="1100">
                <a:solidFill>
                  <a:srgbClr val="262626"/>
                </a:solidFill>
              </a:rPr>
              <a:t> strategies.</a:t>
            </a:r>
            <a:endParaRPr sz="1100">
              <a:solidFill>
                <a:srgbClr val="262626"/>
              </a:solidFill>
            </a:endParaRPr>
          </a:p>
          <a:p>
            <a:pPr indent="-298450" lvl="0" marL="457200" rtl="0" algn="l">
              <a:lnSpc>
                <a:spcPct val="115000"/>
              </a:lnSpc>
              <a:spcBef>
                <a:spcPts val="0"/>
              </a:spcBef>
              <a:spcAft>
                <a:spcPts val="0"/>
              </a:spcAft>
              <a:buClr>
                <a:srgbClr val="262626"/>
              </a:buClr>
              <a:buSzPts val="1100"/>
              <a:buChar char="●"/>
            </a:pPr>
            <a:r>
              <a:rPr b="1" lang="en" sz="1100">
                <a:solidFill>
                  <a:srgbClr val="262626"/>
                </a:solidFill>
              </a:rPr>
              <a:t>Risk Control:</a:t>
            </a:r>
            <a:r>
              <a:rPr lang="en" sz="1100">
                <a:solidFill>
                  <a:srgbClr val="262626"/>
                </a:solidFill>
              </a:rPr>
              <a:t> Identifies risk exposures that need to be managed in a portfolio.</a:t>
            </a:r>
            <a:endParaRPr sz="1100">
              <a:solidFill>
                <a:srgbClr val="262626"/>
              </a:solidFill>
            </a:endParaRPr>
          </a:p>
          <a:p>
            <a:pPr indent="0" lvl="0" marL="0" rtl="0" algn="l">
              <a:lnSpc>
                <a:spcPct val="115000"/>
              </a:lnSpc>
              <a:spcBef>
                <a:spcPts val="1200"/>
              </a:spcBef>
              <a:spcAft>
                <a:spcPts val="0"/>
              </a:spcAft>
              <a:buNone/>
            </a:pPr>
            <a:r>
              <a:rPr b="1" i="1" lang="en" sz="1300">
                <a:solidFill>
                  <a:schemeClr val="dk1"/>
                </a:solidFill>
              </a:rPr>
              <a:t>Motivation</a:t>
            </a:r>
            <a:endParaRPr b="1" i="1" sz="1100">
              <a:solidFill>
                <a:srgbClr val="666666"/>
              </a:solidFill>
            </a:endParaRPr>
          </a:p>
          <a:p>
            <a:pPr indent="-298450" lvl="0" marL="457200" rtl="0" algn="l">
              <a:lnSpc>
                <a:spcPct val="115000"/>
              </a:lnSpc>
              <a:spcBef>
                <a:spcPts val="1200"/>
              </a:spcBef>
              <a:spcAft>
                <a:spcPts val="0"/>
              </a:spcAft>
              <a:buClr>
                <a:srgbClr val="262626"/>
              </a:buClr>
              <a:buSzPts val="1100"/>
              <a:buChar char="●"/>
            </a:pPr>
            <a:r>
              <a:rPr b="1" lang="en" sz="1100">
                <a:solidFill>
                  <a:srgbClr val="262626"/>
                </a:solidFill>
              </a:rPr>
              <a:t>The Theoretical Gap:</a:t>
            </a:r>
            <a:r>
              <a:rPr lang="en" sz="1100">
                <a:solidFill>
                  <a:srgbClr val="262626"/>
                </a:solidFill>
              </a:rPr>
              <a:t> Simple market beta (CAPM) is insufficient. Returns are often driven by specific firm characteristics, not just general market movements.</a:t>
            </a:r>
            <a:endParaRPr sz="1100">
              <a:solidFill>
                <a:srgbClr val="262626"/>
              </a:solidFill>
            </a:endParaRPr>
          </a:p>
          <a:p>
            <a:pPr indent="-298450" lvl="0" marL="457200" rtl="0" algn="l">
              <a:lnSpc>
                <a:spcPct val="115000"/>
              </a:lnSpc>
              <a:spcBef>
                <a:spcPts val="0"/>
              </a:spcBef>
              <a:spcAft>
                <a:spcPts val="0"/>
              </a:spcAft>
              <a:buClr>
                <a:srgbClr val="262626"/>
              </a:buClr>
              <a:buSzPts val="1100"/>
              <a:buChar char="●"/>
            </a:pPr>
            <a:r>
              <a:rPr b="1" lang="en" sz="1100">
                <a:solidFill>
                  <a:srgbClr val="262626"/>
                </a:solidFill>
              </a:rPr>
              <a:t>Contextual Relevance:</a:t>
            </a:r>
            <a:r>
              <a:rPr lang="en" sz="1100">
                <a:solidFill>
                  <a:srgbClr val="262626"/>
                </a:solidFill>
              </a:rPr>
              <a:t> The Chinese market is unique (high retail participation, volatility). We test if classic factors like </a:t>
            </a:r>
            <a:r>
              <a:rPr i="1" lang="en" sz="1100">
                <a:solidFill>
                  <a:srgbClr val="262626"/>
                </a:solidFill>
              </a:rPr>
              <a:t>Fama-French Five Factors</a:t>
            </a:r>
            <a:r>
              <a:rPr lang="en" sz="1100">
                <a:solidFill>
                  <a:srgbClr val="262626"/>
                </a:solidFill>
              </a:rPr>
              <a:t> hold true in this specific emerging market environment.</a:t>
            </a:r>
            <a:endParaRPr sz="1100">
              <a:solidFill>
                <a:srgbClr val="262626"/>
              </a:solidFill>
            </a:endParaRPr>
          </a:p>
        </p:txBody>
      </p:sp>
      <p:pic>
        <p:nvPicPr>
          <p:cNvPr id="133" name="Google Shape;133;p25"/>
          <p:cNvPicPr preferRelativeResize="0"/>
          <p:nvPr/>
        </p:nvPicPr>
        <p:blipFill rotWithShape="1">
          <a:blip r:embed="rId3">
            <a:alphaModFix/>
          </a:blip>
          <a:srcRect b="6646" l="0" r="0" t="0"/>
          <a:stretch/>
        </p:blipFill>
        <p:spPr>
          <a:xfrm>
            <a:off x="101600" y="944300"/>
            <a:ext cx="2602725" cy="3594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Data Description</a:t>
            </a:r>
            <a:endParaRPr sz="2000"/>
          </a:p>
        </p:txBody>
      </p:sp>
      <p:sp>
        <p:nvSpPr>
          <p:cNvPr id="139" name="Google Shape;139;p26"/>
          <p:cNvSpPr txBox="1"/>
          <p:nvPr/>
        </p:nvSpPr>
        <p:spPr>
          <a:xfrm>
            <a:off x="252350" y="1049675"/>
            <a:ext cx="8568300" cy="3484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rPr>
              <a:t> Data Source</a:t>
            </a:r>
            <a:endParaRPr sz="1300">
              <a:solidFill>
                <a:schemeClr val="dk1"/>
              </a:solidFill>
            </a:endParaRPr>
          </a:p>
          <a:p>
            <a:pPr indent="-298450" lvl="0" marL="457200" rtl="0" algn="l">
              <a:lnSpc>
                <a:spcPct val="115000"/>
              </a:lnSpc>
              <a:spcBef>
                <a:spcPts val="1200"/>
              </a:spcBef>
              <a:spcAft>
                <a:spcPts val="0"/>
              </a:spcAft>
              <a:buSzPts val="1100"/>
              <a:buChar char="●"/>
            </a:pPr>
            <a:r>
              <a:rPr b="1" lang="en" sz="1100"/>
              <a:t>Database:</a:t>
            </a:r>
            <a:r>
              <a:rPr lang="en" sz="1100"/>
              <a:t> CSMAR (China Stock Market &amp; Accounting Research).</a:t>
            </a:r>
            <a:endParaRPr sz="1100"/>
          </a:p>
          <a:p>
            <a:pPr indent="-298450" lvl="0" marL="457200" rtl="0" algn="l">
              <a:lnSpc>
                <a:spcPct val="115000"/>
              </a:lnSpc>
              <a:spcBef>
                <a:spcPts val="0"/>
              </a:spcBef>
              <a:spcAft>
                <a:spcPts val="0"/>
              </a:spcAft>
              <a:buSzPts val="1100"/>
              <a:buChar char="●"/>
            </a:pPr>
            <a:r>
              <a:rPr b="1" lang="en" sz="1100"/>
              <a:t>Sample Period:</a:t>
            </a:r>
            <a:r>
              <a:rPr lang="en" sz="1100"/>
              <a:t> Jan 2010 – Dec 2022 (13 Years).</a:t>
            </a:r>
            <a:endParaRPr sz="1100"/>
          </a:p>
          <a:p>
            <a:pPr indent="-298450" lvl="0" marL="457200" rtl="0" algn="l">
              <a:lnSpc>
                <a:spcPct val="115000"/>
              </a:lnSpc>
              <a:spcBef>
                <a:spcPts val="0"/>
              </a:spcBef>
              <a:spcAft>
                <a:spcPts val="0"/>
              </a:spcAft>
              <a:buSzPts val="1100"/>
              <a:buChar char="●"/>
            </a:pPr>
            <a:r>
              <a:rPr b="1" lang="en" sz="1100"/>
              <a:t>Scope:</a:t>
            </a:r>
            <a:r>
              <a:rPr lang="en" sz="1100"/>
              <a:t> Chinese A-share listed companies.</a:t>
            </a:r>
            <a:endParaRPr sz="1100"/>
          </a:p>
          <a:p>
            <a:pPr indent="-298450" lvl="0" marL="457200" rtl="0" algn="l">
              <a:lnSpc>
                <a:spcPct val="115000"/>
              </a:lnSpc>
              <a:spcBef>
                <a:spcPts val="0"/>
              </a:spcBef>
              <a:spcAft>
                <a:spcPts val="0"/>
              </a:spcAft>
              <a:buSzPts val="1100"/>
              <a:buChar char="●"/>
            </a:pPr>
            <a:r>
              <a:rPr b="1" lang="en" sz="1100"/>
              <a:t>Processing:</a:t>
            </a:r>
            <a:r>
              <a:rPr lang="en" sz="1100"/>
              <a:t> Merged Monthly Trading Data with Quarterly Financial Statements.</a:t>
            </a:r>
            <a:endParaRPr sz="1100"/>
          </a:p>
          <a:p>
            <a:pPr indent="0" lvl="0" marL="0" rtl="0" algn="l">
              <a:lnSpc>
                <a:spcPct val="115000"/>
              </a:lnSpc>
              <a:spcBef>
                <a:spcPts val="1200"/>
              </a:spcBef>
              <a:spcAft>
                <a:spcPts val="0"/>
              </a:spcAft>
              <a:buNone/>
            </a:pPr>
            <a:r>
              <a:rPr lang="en" sz="1300">
                <a:solidFill>
                  <a:schemeClr val="dk1"/>
                </a:solidFill>
              </a:rPr>
              <a:t>Target Variable (y)</a:t>
            </a:r>
            <a:endParaRPr sz="1300">
              <a:solidFill>
                <a:schemeClr val="dk1"/>
              </a:solidFill>
            </a:endParaRPr>
          </a:p>
          <a:p>
            <a:pPr indent="-298450" lvl="0" marL="457200" rtl="0" algn="l">
              <a:lnSpc>
                <a:spcPct val="115000"/>
              </a:lnSpc>
              <a:spcBef>
                <a:spcPts val="1200"/>
              </a:spcBef>
              <a:spcAft>
                <a:spcPts val="0"/>
              </a:spcAft>
              <a:buSzPts val="1100"/>
              <a:buChar char="●"/>
            </a:pPr>
            <a:r>
              <a:rPr b="1" lang="en" sz="1100"/>
              <a:t>Variable:</a:t>
            </a:r>
            <a:r>
              <a:rPr lang="en" sz="1100"/>
              <a:t> </a:t>
            </a:r>
            <a:r>
              <a:rPr lang="en" sz="1100"/>
              <a:t>Monthly Excess Return </a:t>
            </a:r>
            <a:endParaRPr sz="1100"/>
          </a:p>
          <a:p>
            <a:pPr indent="-298450" lvl="0" marL="457200" rtl="0" algn="l">
              <a:lnSpc>
                <a:spcPct val="115000"/>
              </a:lnSpc>
              <a:spcBef>
                <a:spcPts val="0"/>
              </a:spcBef>
              <a:spcAft>
                <a:spcPts val="0"/>
              </a:spcAft>
              <a:buSzPts val="1100"/>
              <a:buChar char="●"/>
            </a:pPr>
            <a:r>
              <a:rPr b="1" lang="en" sz="1100"/>
              <a:t>Formula:</a:t>
            </a:r>
            <a:r>
              <a:rPr lang="en" sz="1100"/>
              <a:t> y=Stock Return​−Market Return.</a:t>
            </a:r>
            <a:endParaRPr sz="1100"/>
          </a:p>
          <a:p>
            <a:pPr indent="-298450" lvl="0" marL="457200" rtl="0" algn="l">
              <a:lnSpc>
                <a:spcPct val="115000"/>
              </a:lnSpc>
              <a:spcBef>
                <a:spcPts val="0"/>
              </a:spcBef>
              <a:spcAft>
                <a:spcPts val="0"/>
              </a:spcAft>
              <a:buSzPts val="1100"/>
              <a:buChar char="●"/>
            </a:pPr>
            <a:r>
              <a:rPr b="1" lang="en" sz="1100"/>
              <a:t>Meaning:</a:t>
            </a:r>
            <a:r>
              <a:rPr lang="en" sz="1100"/>
              <a:t> Represents the stock's </a:t>
            </a:r>
            <a:r>
              <a:rPr i="1" lang="en" sz="1100">
                <a:solidFill>
                  <a:schemeClr val="dk1"/>
                </a:solidFill>
              </a:rPr>
              <a:t>idiosyncratic performance</a:t>
            </a:r>
            <a:r>
              <a:rPr lang="en" sz="1100"/>
              <a:t> relative to the market index.</a:t>
            </a:r>
            <a:endParaRPr sz="1100"/>
          </a:p>
          <a:p>
            <a:pPr indent="0" lvl="0" marL="0" rtl="0" algn="l">
              <a:lnSpc>
                <a:spcPct val="115000"/>
              </a:lnSpc>
              <a:spcBef>
                <a:spcPts val="1200"/>
              </a:spcBef>
              <a:spcAft>
                <a:spcPts val="0"/>
              </a:spcAft>
              <a:buNone/>
            </a:pPr>
            <a:r>
              <a:rPr lang="en" sz="1300">
                <a:solidFill>
                  <a:schemeClr val="dk1"/>
                </a:solidFill>
              </a:rPr>
              <a:t>Data Cleaning</a:t>
            </a:r>
            <a:endParaRPr sz="1300">
              <a:solidFill>
                <a:schemeClr val="dk1"/>
              </a:solidFill>
            </a:endParaRPr>
          </a:p>
          <a:p>
            <a:pPr indent="-298450" lvl="0" marL="457200" rtl="0" algn="l">
              <a:lnSpc>
                <a:spcPct val="115000"/>
              </a:lnSpc>
              <a:spcBef>
                <a:spcPts val="1200"/>
              </a:spcBef>
              <a:spcAft>
                <a:spcPts val="0"/>
              </a:spcAft>
              <a:buSzPts val="1100"/>
              <a:buChar char="●"/>
            </a:pPr>
            <a:r>
              <a:rPr b="1" lang="en" sz="1100"/>
              <a:t>Missing Data:</a:t>
            </a:r>
            <a:r>
              <a:rPr lang="en" sz="1100"/>
              <a:t> Excluded observations with missing Equity, Assets, or Return data.</a:t>
            </a:r>
            <a:endParaRPr sz="1100"/>
          </a:p>
          <a:p>
            <a:pPr indent="-298450" lvl="0" marL="457200" rtl="0" algn="l">
              <a:lnSpc>
                <a:spcPct val="115000"/>
              </a:lnSpc>
              <a:spcBef>
                <a:spcPts val="0"/>
              </a:spcBef>
              <a:spcAft>
                <a:spcPts val="0"/>
              </a:spcAft>
              <a:buSzPts val="1100"/>
              <a:buChar char="●"/>
            </a:pPr>
            <a:r>
              <a:rPr b="1" lang="en" sz="1100"/>
              <a:t>Alignment:</a:t>
            </a:r>
            <a:r>
              <a:rPr lang="en" sz="1100"/>
              <a:t> Lagged financial data to ensure information was publicly available at the ti</a:t>
            </a:r>
            <a:r>
              <a:rPr lang="en" sz="1100"/>
              <a:t>me of trading (</a:t>
            </a:r>
            <a:r>
              <a:rPr lang="en" sz="1100"/>
              <a:t>avoid look-ahead bias).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Feature Engineering</a:t>
            </a:r>
            <a:endParaRPr sz="2000"/>
          </a:p>
        </p:txBody>
      </p:sp>
      <p:pic>
        <p:nvPicPr>
          <p:cNvPr id="145" name="Google Shape;145;p27"/>
          <p:cNvPicPr preferRelativeResize="0"/>
          <p:nvPr/>
        </p:nvPicPr>
        <p:blipFill rotWithShape="1">
          <a:blip r:embed="rId3">
            <a:alphaModFix/>
          </a:blip>
          <a:srcRect b="0" l="0" r="0" t="0"/>
          <a:stretch/>
        </p:blipFill>
        <p:spPr>
          <a:xfrm>
            <a:off x="4978525" y="1046600"/>
            <a:ext cx="3741799" cy="3199501"/>
          </a:xfrm>
          <a:prstGeom prst="rect">
            <a:avLst/>
          </a:prstGeom>
          <a:noFill/>
          <a:ln>
            <a:noFill/>
          </a:ln>
        </p:spPr>
      </p:pic>
      <p:sp>
        <p:nvSpPr>
          <p:cNvPr id="146" name="Google Shape;146;p27"/>
          <p:cNvSpPr txBox="1"/>
          <p:nvPr/>
        </p:nvSpPr>
        <p:spPr>
          <a:xfrm>
            <a:off x="181150" y="1152200"/>
            <a:ext cx="4290600" cy="3280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lang="en" sz="1300">
                <a:solidFill>
                  <a:schemeClr val="dk1"/>
                </a:solidFill>
              </a:rPr>
              <a:t>Data Transformation: Monthly Ranking</a:t>
            </a:r>
            <a:endParaRPr sz="1300">
              <a:solidFill>
                <a:schemeClr val="dk1"/>
              </a:solidFill>
            </a:endParaRPr>
          </a:p>
          <a:p>
            <a:pPr indent="-298450" lvl="0" marL="457200" rtl="0" algn="l">
              <a:lnSpc>
                <a:spcPct val="150000"/>
              </a:lnSpc>
              <a:spcBef>
                <a:spcPts val="1200"/>
              </a:spcBef>
              <a:spcAft>
                <a:spcPts val="0"/>
              </a:spcAft>
              <a:buSzPts val="1100"/>
              <a:buChar char="●"/>
            </a:pPr>
            <a:r>
              <a:rPr b="1" lang="en" sz="1100"/>
              <a:t>Method:</a:t>
            </a:r>
            <a:r>
              <a:rPr lang="en" sz="1100"/>
              <a:t> Percentile Ranking by Date.</a:t>
            </a:r>
            <a:endParaRPr sz="1100"/>
          </a:p>
          <a:p>
            <a:pPr indent="-298450" lvl="0" marL="457200" rtl="0" algn="l">
              <a:lnSpc>
                <a:spcPct val="150000"/>
              </a:lnSpc>
              <a:spcBef>
                <a:spcPts val="0"/>
              </a:spcBef>
              <a:spcAft>
                <a:spcPts val="0"/>
              </a:spcAft>
              <a:buSzPts val="1100"/>
              <a:buChar char="●"/>
            </a:pPr>
            <a:r>
              <a:rPr b="1" lang="en" sz="1100"/>
              <a:t>Code:</a:t>
            </a:r>
            <a:r>
              <a:rPr lang="en" sz="1100"/>
              <a:t> </a:t>
            </a:r>
            <a:r>
              <a:rPr lang="en" sz="1100">
                <a:solidFill>
                  <a:srgbClr val="188038"/>
                </a:solidFill>
                <a:latin typeface="Roboto Mono"/>
                <a:ea typeface="Roboto Mono"/>
                <a:cs typeface="Roboto Mono"/>
                <a:sym typeface="Roboto Mono"/>
              </a:rPr>
              <a:t>groupby('date').rank(pct=True)</a:t>
            </a:r>
            <a:endParaRPr sz="1100">
              <a:solidFill>
                <a:srgbClr val="188038"/>
              </a:solidFill>
              <a:latin typeface="Roboto Mono"/>
              <a:ea typeface="Roboto Mono"/>
              <a:cs typeface="Roboto Mono"/>
              <a:sym typeface="Roboto Mono"/>
            </a:endParaRPr>
          </a:p>
          <a:p>
            <a:pPr indent="-298450" lvl="0" marL="457200" rtl="0" algn="l">
              <a:lnSpc>
                <a:spcPct val="150000"/>
              </a:lnSpc>
              <a:spcBef>
                <a:spcPts val="0"/>
              </a:spcBef>
              <a:spcAft>
                <a:spcPts val="0"/>
              </a:spcAft>
              <a:buSzPts val="1100"/>
              <a:buChar char="●"/>
            </a:pPr>
            <a:r>
              <a:rPr b="1" lang="en" sz="1100"/>
              <a:t>Result:</a:t>
            </a:r>
            <a:r>
              <a:rPr lang="en" sz="1100"/>
              <a:t> All values are converted to a simple </a:t>
            </a:r>
            <a:r>
              <a:rPr i="1" lang="en" sz="1100">
                <a:solidFill>
                  <a:schemeClr val="dk1"/>
                </a:solidFill>
              </a:rPr>
              <a:t>0-to-1 scale</a:t>
            </a:r>
            <a:r>
              <a:rPr lang="en" sz="1100"/>
              <a:t>.</a:t>
            </a:r>
            <a:endParaRPr sz="1100"/>
          </a:p>
          <a:p>
            <a:pPr indent="-298450" lvl="0" marL="457200" rtl="0" algn="l">
              <a:lnSpc>
                <a:spcPct val="150000"/>
              </a:lnSpc>
              <a:spcBef>
                <a:spcPts val="0"/>
              </a:spcBef>
              <a:spcAft>
                <a:spcPts val="0"/>
              </a:spcAft>
              <a:buSzPts val="1100"/>
              <a:buChar char="●"/>
            </a:pPr>
            <a:r>
              <a:rPr b="1" lang="en" sz="1100"/>
              <a:t>Why we do this:</a:t>
            </a:r>
            <a:endParaRPr b="1" sz="1100"/>
          </a:p>
          <a:p>
            <a:pPr indent="-298450" lvl="1" marL="914400" rtl="0" algn="l">
              <a:lnSpc>
                <a:spcPct val="150000"/>
              </a:lnSpc>
              <a:spcBef>
                <a:spcPts val="0"/>
              </a:spcBef>
              <a:spcAft>
                <a:spcPts val="0"/>
              </a:spcAft>
              <a:buSzPts val="1100"/>
              <a:buAutoNum type="arabicPeriod"/>
            </a:pPr>
            <a:r>
              <a:rPr b="1" lang="en" sz="1100"/>
              <a:t>Unified Scale:</a:t>
            </a:r>
            <a:r>
              <a:rPr lang="en" sz="1100"/>
              <a:t> It allows us to compare big numbers with small percentages fairly.</a:t>
            </a:r>
            <a:endParaRPr sz="1100"/>
          </a:p>
          <a:p>
            <a:pPr indent="-298450" lvl="1" marL="914400" rtl="0" algn="l">
              <a:lnSpc>
                <a:spcPct val="150000"/>
              </a:lnSpc>
              <a:spcBef>
                <a:spcPts val="0"/>
              </a:spcBef>
              <a:spcAft>
                <a:spcPts val="0"/>
              </a:spcAft>
              <a:buSzPts val="1100"/>
              <a:buAutoNum type="arabicPeriod"/>
            </a:pPr>
            <a:r>
              <a:rPr b="1" lang="en" sz="1100"/>
              <a:t>Relative Strength:</a:t>
            </a:r>
            <a:r>
              <a:rPr lang="en" sz="1100"/>
              <a:t> It removes general market trends. We only compare how a stock performs </a:t>
            </a:r>
            <a:r>
              <a:rPr i="1" lang="en" sz="1100">
                <a:solidFill>
                  <a:schemeClr val="dk1"/>
                </a:solidFill>
              </a:rPr>
              <a:t>against other stocks at the same time,</a:t>
            </a:r>
            <a:r>
              <a:rPr lang="en" sz="1100"/>
              <a:t> rather than against historical prices.</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Model Specification</a:t>
            </a:r>
            <a:endParaRPr sz="2000"/>
          </a:p>
        </p:txBody>
      </p:sp>
      <p:sp>
        <p:nvSpPr>
          <p:cNvPr id="152" name="Google Shape;152;p28"/>
          <p:cNvSpPr txBox="1"/>
          <p:nvPr/>
        </p:nvSpPr>
        <p:spPr>
          <a:xfrm>
            <a:off x="862500" y="928524"/>
            <a:ext cx="7888800" cy="7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700"/>
              <a:t>yᵢ = β₀ + β₁ Rank_Sizeᵢ + β₂ Rank_BMᵢ + β₃ Rank_OpLevᵢ</a:t>
            </a:r>
            <a:endParaRPr b="1" sz="1700"/>
          </a:p>
          <a:p>
            <a:pPr indent="0" lvl="0" marL="0" rtl="0" algn="l">
              <a:lnSpc>
                <a:spcPct val="115000"/>
              </a:lnSpc>
              <a:spcBef>
                <a:spcPts val="0"/>
              </a:spcBef>
              <a:spcAft>
                <a:spcPts val="0"/>
              </a:spcAft>
              <a:buNone/>
            </a:pPr>
            <a:r>
              <a:rPr b="1" lang="en" sz="1700"/>
              <a:t>      + β₄ Rank_FinLevᵢ + β₅ Rank_Momᵢ + β₆ Rank_Reviᵢ + β₇ Rank_AGᵢ + εᵢ</a:t>
            </a:r>
            <a:endParaRPr b="1" sz="1700"/>
          </a:p>
        </p:txBody>
      </p:sp>
      <p:sp>
        <p:nvSpPr>
          <p:cNvPr id="153" name="Google Shape;153;p28"/>
          <p:cNvSpPr/>
          <p:nvPr/>
        </p:nvSpPr>
        <p:spPr>
          <a:xfrm>
            <a:off x="539925" y="895900"/>
            <a:ext cx="8064150" cy="919550"/>
          </a:xfrm>
          <a:prstGeom prst="flowChartProcess">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8"/>
          <p:cNvSpPr/>
          <p:nvPr/>
        </p:nvSpPr>
        <p:spPr>
          <a:xfrm>
            <a:off x="352175" y="2829375"/>
            <a:ext cx="3725700" cy="7473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t>Dependent Variable</a:t>
            </a:r>
            <a:endParaRPr/>
          </a:p>
          <a:p>
            <a:pPr indent="0" lvl="0" marL="0" rtl="0" algn="l">
              <a:lnSpc>
                <a:spcPct val="115000"/>
              </a:lnSpc>
              <a:spcBef>
                <a:spcPts val="0"/>
              </a:spcBef>
              <a:spcAft>
                <a:spcPts val="0"/>
              </a:spcAft>
              <a:buNone/>
            </a:pPr>
            <a:r>
              <a:rPr lang="en"/>
              <a:t>y_i：</a:t>
            </a:r>
            <a:r>
              <a:rPr lang="en" sz="1600"/>
              <a:t>Monthly excess return for firm i</a:t>
            </a:r>
            <a:endParaRPr/>
          </a:p>
        </p:txBody>
      </p:sp>
      <p:sp>
        <p:nvSpPr>
          <p:cNvPr id="155" name="Google Shape;155;p28"/>
          <p:cNvSpPr/>
          <p:nvPr/>
        </p:nvSpPr>
        <p:spPr>
          <a:xfrm>
            <a:off x="4268775" y="2106675"/>
            <a:ext cx="4547400" cy="21927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600"/>
              <a:t>Explanatory Variables(Rank - transformed)</a:t>
            </a:r>
            <a:endParaRPr b="1" sz="1600"/>
          </a:p>
          <a:p>
            <a:pPr indent="0" lvl="0" marL="0" rtl="0" algn="l">
              <a:spcBef>
                <a:spcPts val="0"/>
              </a:spcBef>
              <a:spcAft>
                <a:spcPts val="0"/>
              </a:spcAft>
              <a:buNone/>
            </a:pPr>
            <a:r>
              <a:rPr lang="en" sz="1600"/>
              <a:t>Rank_Size — firm size</a:t>
            </a:r>
            <a:br>
              <a:rPr lang="en" sz="1600"/>
            </a:br>
            <a:r>
              <a:rPr lang="en" sz="1600"/>
              <a:t>Rank_BM — book-to-market ratio</a:t>
            </a:r>
            <a:br>
              <a:rPr lang="en" sz="1600"/>
            </a:br>
            <a:r>
              <a:rPr lang="en" sz="1600"/>
              <a:t>Rank_OpLev — operating leverage</a:t>
            </a:r>
            <a:br>
              <a:rPr lang="en" sz="1600"/>
            </a:br>
            <a:r>
              <a:rPr lang="en" sz="1600"/>
              <a:t>Rank_FinLev — financial leverage</a:t>
            </a:r>
            <a:br>
              <a:rPr lang="en" sz="1600"/>
            </a:br>
            <a:r>
              <a:rPr lang="en" sz="1600"/>
              <a:t>Rank_Mom — momentum</a:t>
            </a:r>
            <a:br>
              <a:rPr lang="en" sz="1600"/>
            </a:br>
            <a:r>
              <a:rPr lang="en" sz="1600"/>
              <a:t>Rank_Rev — revenue growth</a:t>
            </a:r>
            <a:br>
              <a:rPr lang="en" sz="1600"/>
            </a:br>
            <a:r>
              <a:rPr lang="en" sz="1600"/>
              <a:t>Rank_AG — asset growth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Model Specification</a:t>
            </a:r>
            <a:endParaRPr sz="2000"/>
          </a:p>
        </p:txBody>
      </p:sp>
      <p:pic>
        <p:nvPicPr>
          <p:cNvPr id="161" name="Google Shape;161;p29"/>
          <p:cNvPicPr preferRelativeResize="0"/>
          <p:nvPr/>
        </p:nvPicPr>
        <p:blipFill>
          <a:blip r:embed="rId3">
            <a:alphaModFix/>
          </a:blip>
          <a:stretch>
            <a:fillRect/>
          </a:stretch>
        </p:blipFill>
        <p:spPr>
          <a:xfrm>
            <a:off x="3188112" y="1161301"/>
            <a:ext cx="3168375" cy="2820901"/>
          </a:xfrm>
          <a:prstGeom prst="rect">
            <a:avLst/>
          </a:prstGeom>
          <a:noFill/>
          <a:ln>
            <a:noFill/>
          </a:ln>
        </p:spPr>
      </p:pic>
      <p:sp>
        <p:nvSpPr>
          <p:cNvPr id="162" name="Google Shape;162;p29"/>
          <p:cNvSpPr/>
          <p:nvPr/>
        </p:nvSpPr>
        <p:spPr>
          <a:xfrm>
            <a:off x="690350" y="1138175"/>
            <a:ext cx="2216700" cy="1311900"/>
          </a:xfrm>
          <a:prstGeom prst="wave">
            <a:avLst>
              <a:gd fmla="val 5769" name="adj1"/>
              <a:gd fmla="val 0" name="adj2"/>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400"/>
              </a:spcBef>
              <a:spcAft>
                <a:spcPts val="0"/>
              </a:spcAft>
              <a:buNone/>
            </a:pPr>
            <a:r>
              <a:rPr b="1" lang="en" sz="1200"/>
              <a:t>OLS</a:t>
            </a:r>
            <a:endParaRPr b="1" sz="1200"/>
          </a:p>
          <a:p>
            <a:pPr indent="-292100" lvl="0" marL="457200" rtl="0" algn="l">
              <a:spcBef>
                <a:spcPts val="1200"/>
              </a:spcBef>
              <a:spcAft>
                <a:spcPts val="0"/>
              </a:spcAft>
              <a:buSzPts val="1000"/>
              <a:buChar char="●"/>
            </a:pPr>
            <a:r>
              <a:rPr lang="en" sz="1000"/>
              <a:t>Linear regression</a:t>
            </a:r>
            <a:endParaRPr sz="1000"/>
          </a:p>
          <a:p>
            <a:pPr indent="-292100" lvl="0" marL="457200" rtl="0" algn="l">
              <a:spcBef>
                <a:spcPts val="0"/>
              </a:spcBef>
              <a:spcAft>
                <a:spcPts val="0"/>
              </a:spcAft>
              <a:buSzPts val="1000"/>
              <a:buChar char="●"/>
            </a:pPr>
            <a:r>
              <a:rPr lang="en" sz="1000"/>
              <a:t>Interpretable relationship</a:t>
            </a:r>
            <a:endParaRPr sz="1000"/>
          </a:p>
          <a:p>
            <a:pPr indent="0" lvl="0" marL="0" rtl="0" algn="l">
              <a:spcBef>
                <a:spcPts val="1200"/>
              </a:spcBef>
              <a:spcAft>
                <a:spcPts val="1200"/>
              </a:spcAft>
              <a:buNone/>
            </a:pPr>
            <a:r>
              <a:t/>
            </a:r>
            <a:endParaRPr sz="1000"/>
          </a:p>
        </p:txBody>
      </p:sp>
      <p:sp>
        <p:nvSpPr>
          <p:cNvPr id="163" name="Google Shape;163;p29"/>
          <p:cNvSpPr txBox="1"/>
          <p:nvPr/>
        </p:nvSpPr>
        <p:spPr>
          <a:xfrm>
            <a:off x="3356500" y="4036925"/>
            <a:ext cx="85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Figure 1</a:t>
            </a:r>
            <a:endParaRPr>
              <a:solidFill>
                <a:schemeClr val="lt1"/>
              </a:solidFill>
              <a:highlight>
                <a:schemeClr val="dk1"/>
              </a:highlight>
            </a:endParaRPr>
          </a:p>
        </p:txBody>
      </p:sp>
      <p:sp>
        <p:nvSpPr>
          <p:cNvPr id="164" name="Google Shape;164;p29"/>
          <p:cNvSpPr/>
          <p:nvPr/>
        </p:nvSpPr>
        <p:spPr>
          <a:xfrm>
            <a:off x="690350" y="2897825"/>
            <a:ext cx="2216700" cy="1311900"/>
          </a:xfrm>
          <a:prstGeom prst="wave">
            <a:avLst>
              <a:gd fmla="val 5769" name="adj1"/>
              <a:gd fmla="val 0" name="adj2"/>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400"/>
              </a:spcBef>
              <a:spcAft>
                <a:spcPts val="0"/>
              </a:spcAft>
              <a:buNone/>
            </a:pPr>
            <a:r>
              <a:t/>
            </a:r>
            <a:endParaRPr b="1" sz="1000"/>
          </a:p>
          <a:p>
            <a:pPr indent="0" lvl="0" marL="0" rtl="0" algn="l">
              <a:spcBef>
                <a:spcPts val="1400"/>
              </a:spcBef>
              <a:spcAft>
                <a:spcPts val="0"/>
              </a:spcAft>
              <a:buNone/>
            </a:pPr>
            <a:r>
              <a:rPr b="1" lang="en" sz="1200"/>
              <a:t>HC1</a:t>
            </a:r>
            <a:endParaRPr b="1" sz="1200"/>
          </a:p>
          <a:p>
            <a:pPr indent="-292100" lvl="0" marL="457200" rtl="0" algn="l">
              <a:lnSpc>
                <a:spcPct val="115000"/>
              </a:lnSpc>
              <a:spcBef>
                <a:spcPts val="1200"/>
              </a:spcBef>
              <a:spcAft>
                <a:spcPts val="0"/>
              </a:spcAft>
              <a:buSzPts val="1000"/>
              <a:buChar char="●"/>
            </a:pPr>
            <a:r>
              <a:rPr lang="en" sz="1000"/>
              <a:t>Robust errors for heteroskedasticity</a:t>
            </a:r>
            <a:endParaRPr sz="1000"/>
          </a:p>
          <a:p>
            <a:pPr indent="-292100" lvl="0" marL="457200" rtl="0" algn="l">
              <a:lnSpc>
                <a:spcPct val="115000"/>
              </a:lnSpc>
              <a:spcBef>
                <a:spcPts val="0"/>
              </a:spcBef>
              <a:spcAft>
                <a:spcPts val="0"/>
              </a:spcAft>
              <a:buSzPts val="1000"/>
              <a:buChar char="●"/>
            </a:pPr>
            <a:r>
              <a:rPr lang="en" sz="1000"/>
              <a:t>More reliable t-values</a:t>
            </a:r>
            <a:endParaRPr b="1" sz="1000"/>
          </a:p>
          <a:p>
            <a:pPr indent="0" lvl="0" marL="0" rtl="0" algn="l">
              <a:spcBef>
                <a:spcPts val="1200"/>
              </a:spcBef>
              <a:spcAft>
                <a:spcPts val="1200"/>
              </a:spcAft>
              <a:buNone/>
            </a:pPr>
            <a:r>
              <a:t/>
            </a:r>
            <a:endParaRPr sz="1000"/>
          </a:p>
        </p:txBody>
      </p:sp>
      <p:sp>
        <p:nvSpPr>
          <p:cNvPr id="165" name="Google Shape;165;p29"/>
          <p:cNvSpPr/>
          <p:nvPr/>
        </p:nvSpPr>
        <p:spPr>
          <a:xfrm>
            <a:off x="6356500" y="1138175"/>
            <a:ext cx="2216700" cy="1311900"/>
          </a:xfrm>
          <a:prstGeom prst="wave">
            <a:avLst>
              <a:gd fmla="val 5769" name="adj1"/>
              <a:gd fmla="val 0" name="adj2"/>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400"/>
              </a:spcBef>
              <a:spcAft>
                <a:spcPts val="0"/>
              </a:spcAft>
              <a:buNone/>
            </a:pPr>
            <a:r>
              <a:rPr b="1" lang="en" sz="1200"/>
              <a:t>Train–Test Split</a:t>
            </a:r>
            <a:endParaRPr sz="1200">
              <a:latin typeface="Roboto Mono"/>
              <a:ea typeface="Roboto Mono"/>
              <a:cs typeface="Roboto Mono"/>
              <a:sym typeface="Roboto Mono"/>
            </a:endParaRPr>
          </a:p>
          <a:p>
            <a:pPr indent="-292100" lvl="0" marL="457200" rtl="0" algn="l">
              <a:spcBef>
                <a:spcPts val="1200"/>
              </a:spcBef>
              <a:spcAft>
                <a:spcPts val="0"/>
              </a:spcAft>
              <a:buSzPts val="1000"/>
              <a:buChar char="●"/>
            </a:pPr>
            <a:r>
              <a:rPr lang="en" sz="1000"/>
              <a:t>80/20 split</a:t>
            </a:r>
            <a:endParaRPr sz="1000"/>
          </a:p>
          <a:p>
            <a:pPr indent="-292100" lvl="0" marL="457200" rtl="0" algn="l">
              <a:spcBef>
                <a:spcPts val="0"/>
              </a:spcBef>
              <a:spcAft>
                <a:spcPts val="0"/>
              </a:spcAft>
              <a:buSzPts val="1000"/>
              <a:buChar char="●"/>
            </a:pPr>
            <a:r>
              <a:rPr lang="en" sz="1000"/>
              <a:t>Random split OK with ranking</a:t>
            </a:r>
            <a:endParaRPr sz="1000"/>
          </a:p>
        </p:txBody>
      </p:sp>
      <p:sp>
        <p:nvSpPr>
          <p:cNvPr id="166" name="Google Shape;166;p29"/>
          <p:cNvSpPr/>
          <p:nvPr/>
        </p:nvSpPr>
        <p:spPr>
          <a:xfrm>
            <a:off x="6356500" y="2897825"/>
            <a:ext cx="2216700" cy="1311900"/>
          </a:xfrm>
          <a:prstGeom prst="wave">
            <a:avLst>
              <a:gd fmla="val 5769" name="adj1"/>
              <a:gd fmla="val 0" name="adj2"/>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400"/>
              </a:spcBef>
              <a:spcAft>
                <a:spcPts val="0"/>
              </a:spcAft>
              <a:buNone/>
            </a:pPr>
            <a:r>
              <a:rPr b="1" lang="en" sz="1200"/>
              <a:t>Goal </a:t>
            </a:r>
            <a:endParaRPr b="1" sz="1200"/>
          </a:p>
          <a:p>
            <a:pPr indent="-292100" lvl="0" marL="457200" rtl="0" algn="l">
              <a:spcBef>
                <a:spcPts val="1400"/>
              </a:spcBef>
              <a:spcAft>
                <a:spcPts val="0"/>
              </a:spcAft>
              <a:buSzPts val="1000"/>
              <a:buChar char="●"/>
            </a:pPr>
            <a:r>
              <a:rPr lang="en" sz="1000"/>
              <a:t>Stable estimates</a:t>
            </a:r>
            <a:endParaRPr sz="1000"/>
          </a:p>
          <a:p>
            <a:pPr indent="-292100" lvl="0" marL="457200" rtl="0" algn="l">
              <a:spcBef>
                <a:spcPts val="0"/>
              </a:spcBef>
              <a:spcAft>
                <a:spcPts val="0"/>
              </a:spcAft>
              <a:buSzPts val="1000"/>
              <a:buChar char="●"/>
            </a:pPr>
            <a:r>
              <a:rPr lang="en" sz="1000"/>
              <a:t>Reliable inference</a:t>
            </a:r>
            <a:endParaRPr b="1"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Variable Selection</a:t>
            </a:r>
            <a:endParaRPr sz="2000"/>
          </a:p>
        </p:txBody>
      </p:sp>
      <p:sp>
        <p:nvSpPr>
          <p:cNvPr id="172" name="Google Shape;172;p30"/>
          <p:cNvSpPr/>
          <p:nvPr/>
        </p:nvSpPr>
        <p:spPr>
          <a:xfrm>
            <a:off x="262200" y="1105950"/>
            <a:ext cx="4226400" cy="2931600"/>
          </a:xfrm>
          <a:prstGeom prst="verticalScroll">
            <a:avLst>
              <a:gd fmla="val 12500" name="adj"/>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b="1" lang="en" sz="1300"/>
              <a:t>Two-Step Variable Selection</a:t>
            </a:r>
            <a:endParaRPr b="1" sz="1300"/>
          </a:p>
          <a:p>
            <a:pPr indent="0" lvl="0" marL="0" rtl="0" algn="l">
              <a:lnSpc>
                <a:spcPct val="115000"/>
              </a:lnSpc>
              <a:spcBef>
                <a:spcPts val="1200"/>
              </a:spcBef>
              <a:spcAft>
                <a:spcPts val="0"/>
              </a:spcAft>
              <a:buNone/>
            </a:pPr>
            <a:r>
              <a:rPr b="1" lang="en" sz="1100"/>
              <a:t>1. Multicollinearity Check (VIF)</a:t>
            </a:r>
            <a:endParaRPr b="1" sz="1100"/>
          </a:p>
          <a:p>
            <a:pPr indent="-298450" lvl="0" marL="457200" rtl="0" algn="l">
              <a:lnSpc>
                <a:spcPct val="115000"/>
              </a:lnSpc>
              <a:spcBef>
                <a:spcPts val="1200"/>
              </a:spcBef>
              <a:spcAft>
                <a:spcPts val="0"/>
              </a:spcAft>
              <a:buSzPts val="1100"/>
              <a:buChar char="●"/>
            </a:pPr>
            <a:r>
              <a:rPr lang="en" sz="1100"/>
              <a:t> Identify predictors with high multicollinearity</a:t>
            </a:r>
            <a:endParaRPr sz="1100"/>
          </a:p>
          <a:p>
            <a:pPr indent="0" lvl="0" marL="0" rtl="0" algn="l">
              <a:lnSpc>
                <a:spcPct val="115000"/>
              </a:lnSpc>
              <a:spcBef>
                <a:spcPts val="1200"/>
              </a:spcBef>
              <a:spcAft>
                <a:spcPts val="0"/>
              </a:spcAft>
              <a:buNone/>
            </a:pPr>
            <a:r>
              <a:rPr b="1" lang="en" sz="1100"/>
              <a:t>2. Backward Elimination (BIC)</a:t>
            </a:r>
            <a:endParaRPr b="1" sz="1100"/>
          </a:p>
          <a:p>
            <a:pPr indent="-298450" lvl="0" marL="457200" rtl="0" algn="l">
              <a:lnSpc>
                <a:spcPct val="115000"/>
              </a:lnSpc>
              <a:spcBef>
                <a:spcPts val="1200"/>
              </a:spcBef>
              <a:spcAft>
                <a:spcPts val="0"/>
              </a:spcAft>
              <a:buSzPts val="1100"/>
              <a:buChar char="●"/>
            </a:pPr>
            <a:r>
              <a:rPr lang="en" sz="1100"/>
              <a:t>Remove variables that do not improve BIC</a:t>
            </a:r>
            <a:endParaRPr sz="1100"/>
          </a:p>
          <a:p>
            <a:pPr indent="-298450" lvl="0" marL="457200" rtl="0" algn="l">
              <a:lnSpc>
                <a:spcPct val="115000"/>
              </a:lnSpc>
              <a:spcBef>
                <a:spcPts val="0"/>
              </a:spcBef>
              <a:spcAft>
                <a:spcPts val="0"/>
              </a:spcAft>
              <a:buSzPts val="1100"/>
              <a:buChar char="●"/>
            </a:pPr>
            <a:r>
              <a:rPr lang="en" sz="1100"/>
              <a:t>Final model keeps predictors that minimize BIC</a:t>
            </a:r>
            <a:endParaRPr b="1" sz="1100"/>
          </a:p>
        </p:txBody>
      </p:sp>
      <p:sp>
        <p:nvSpPr>
          <p:cNvPr id="173" name="Google Shape;173;p30"/>
          <p:cNvSpPr/>
          <p:nvPr/>
        </p:nvSpPr>
        <p:spPr>
          <a:xfrm>
            <a:off x="4755750" y="828725"/>
            <a:ext cx="4031400" cy="3573300"/>
          </a:xfrm>
          <a:prstGeom prst="horizontalScroll">
            <a:avLst>
              <a:gd fmla="val 12500" name="adj"/>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None/>
            </a:pPr>
            <a:r>
              <a:rPr b="1" lang="en" sz="1300"/>
              <a:t>Selection Objective</a:t>
            </a:r>
            <a:endParaRPr b="1" sz="1300"/>
          </a:p>
          <a:p>
            <a:pPr indent="-298450" lvl="0" marL="457200" rtl="0" algn="l">
              <a:lnSpc>
                <a:spcPct val="115000"/>
              </a:lnSpc>
              <a:spcBef>
                <a:spcPts val="1200"/>
              </a:spcBef>
              <a:spcAft>
                <a:spcPts val="0"/>
              </a:spcAft>
              <a:buSzPts val="1100"/>
              <a:buChar char="●"/>
            </a:pPr>
            <a:r>
              <a:rPr lang="en" sz="1100"/>
              <a:t>Ensure statistically valid and interpretable predictors</a:t>
            </a:r>
            <a:endParaRPr sz="1100"/>
          </a:p>
          <a:p>
            <a:pPr indent="-298450" lvl="0" marL="457200" rtl="0" algn="l">
              <a:lnSpc>
                <a:spcPct val="115000"/>
              </a:lnSpc>
              <a:spcBef>
                <a:spcPts val="0"/>
              </a:spcBef>
              <a:spcAft>
                <a:spcPts val="0"/>
              </a:spcAft>
              <a:buSzPts val="1100"/>
              <a:buChar char="●"/>
            </a:pPr>
            <a:r>
              <a:rPr lang="en" sz="1100"/>
              <a:t>Improve model stability by reducing multicollinearity</a:t>
            </a:r>
            <a:endParaRPr sz="1100"/>
          </a:p>
          <a:p>
            <a:pPr indent="-298450" lvl="0" marL="457200" rtl="0" algn="l">
              <a:lnSpc>
                <a:spcPct val="115000"/>
              </a:lnSpc>
              <a:spcBef>
                <a:spcPts val="0"/>
              </a:spcBef>
              <a:spcAft>
                <a:spcPts val="0"/>
              </a:spcAft>
              <a:buSzPts val="1100"/>
              <a:buChar char="●"/>
            </a:pPr>
            <a:r>
              <a:rPr lang="en" sz="1100"/>
              <a:t>Build a simpler model with strong predictive performance</a:t>
            </a:r>
            <a:endParaRPr sz="1100"/>
          </a:p>
          <a:p>
            <a:pPr indent="0" lvl="0" marL="0" rtl="0" algn="l">
              <a:lnSpc>
                <a:spcPct val="115000"/>
              </a:lnSpc>
              <a:spcBef>
                <a:spcPts val="1200"/>
              </a:spcBef>
              <a:spcAft>
                <a:spcPts val="1200"/>
              </a:spcAft>
              <a:buNone/>
            </a:pPr>
            <a:r>
              <a:t/>
            </a:r>
            <a:endParaRPr b="1"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Variable Selection</a:t>
            </a:r>
            <a:endParaRPr sz="2000"/>
          </a:p>
        </p:txBody>
      </p:sp>
      <p:sp>
        <p:nvSpPr>
          <p:cNvPr id="179" name="Google Shape;179;p31"/>
          <p:cNvSpPr txBox="1"/>
          <p:nvPr/>
        </p:nvSpPr>
        <p:spPr>
          <a:xfrm>
            <a:off x="212750" y="4177300"/>
            <a:ext cx="401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t>VIF analysis identifies multicollinearity among ranked predictors</a:t>
            </a:r>
            <a:endParaRPr i="1" sz="1000"/>
          </a:p>
          <a:p>
            <a:pPr indent="0" lvl="0" marL="0" rtl="0" algn="l">
              <a:spcBef>
                <a:spcPts val="0"/>
              </a:spcBef>
              <a:spcAft>
                <a:spcPts val="0"/>
              </a:spcAft>
              <a:buNone/>
            </a:pPr>
            <a:r>
              <a:rPr i="1" lang="en" sz="1000"/>
              <a:t>Rank_EP exhibits the highest VIF (= 16.4)</a:t>
            </a:r>
            <a:endParaRPr i="1" sz="1000"/>
          </a:p>
        </p:txBody>
      </p:sp>
      <p:sp>
        <p:nvSpPr>
          <p:cNvPr id="180" name="Google Shape;180;p31"/>
          <p:cNvSpPr txBox="1"/>
          <p:nvPr/>
        </p:nvSpPr>
        <p:spPr>
          <a:xfrm>
            <a:off x="4515750" y="4177300"/>
            <a:ext cx="4294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t>Variables with high VIF were flagged for potential removal</a:t>
            </a:r>
            <a:endParaRPr i="1" sz="1000"/>
          </a:p>
          <a:p>
            <a:pPr indent="0" lvl="0" marL="0" rtl="0" algn="l">
              <a:spcBef>
                <a:spcPts val="0"/>
              </a:spcBef>
              <a:spcAft>
                <a:spcPts val="0"/>
              </a:spcAft>
              <a:buNone/>
            </a:pPr>
            <a:r>
              <a:rPr i="1" lang="en" sz="1000"/>
              <a:t>VIF insights inform the subsequent BIC-based backward elimination step</a:t>
            </a:r>
            <a:endParaRPr sz="1600"/>
          </a:p>
        </p:txBody>
      </p:sp>
      <p:sp>
        <p:nvSpPr>
          <p:cNvPr id="181" name="Google Shape;181;p31"/>
          <p:cNvSpPr txBox="1"/>
          <p:nvPr/>
        </p:nvSpPr>
        <p:spPr>
          <a:xfrm>
            <a:off x="1777400" y="828725"/>
            <a:ext cx="88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Figure 2</a:t>
            </a:r>
            <a:endParaRPr>
              <a:solidFill>
                <a:schemeClr val="lt1"/>
              </a:solidFill>
              <a:highlight>
                <a:schemeClr val="dk1"/>
              </a:highlight>
            </a:endParaRPr>
          </a:p>
        </p:txBody>
      </p:sp>
      <p:pic>
        <p:nvPicPr>
          <p:cNvPr id="182" name="Google Shape;182;p31"/>
          <p:cNvPicPr preferRelativeResize="0"/>
          <p:nvPr/>
        </p:nvPicPr>
        <p:blipFill>
          <a:blip r:embed="rId3">
            <a:alphaModFix/>
          </a:blip>
          <a:stretch>
            <a:fillRect/>
          </a:stretch>
        </p:blipFill>
        <p:spPr>
          <a:xfrm>
            <a:off x="1528900" y="1131463"/>
            <a:ext cx="5814042" cy="288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2"/>
          <p:cNvPicPr preferRelativeResize="0"/>
          <p:nvPr/>
        </p:nvPicPr>
        <p:blipFill>
          <a:blip r:embed="rId3">
            <a:alphaModFix/>
          </a:blip>
          <a:stretch>
            <a:fillRect/>
          </a:stretch>
        </p:blipFill>
        <p:spPr>
          <a:xfrm>
            <a:off x="167925" y="725975"/>
            <a:ext cx="6147749" cy="3439850"/>
          </a:xfrm>
          <a:prstGeom prst="rect">
            <a:avLst/>
          </a:prstGeom>
          <a:noFill/>
          <a:ln>
            <a:noFill/>
          </a:ln>
        </p:spPr>
      </p:pic>
      <p:sp>
        <p:nvSpPr>
          <p:cNvPr id="188" name="Google Shape;188;p32"/>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Variable Selection</a:t>
            </a:r>
            <a:endParaRPr sz="2000"/>
          </a:p>
        </p:txBody>
      </p:sp>
      <p:sp>
        <p:nvSpPr>
          <p:cNvPr id="189" name="Google Shape;189;p32"/>
          <p:cNvSpPr/>
          <p:nvPr/>
        </p:nvSpPr>
        <p:spPr>
          <a:xfrm>
            <a:off x="6315675" y="3117899"/>
            <a:ext cx="2364600" cy="860100"/>
          </a:xfrm>
          <a:prstGeom prst="leftArrowCallout">
            <a:avLst>
              <a:gd fmla="val 25000" name="adj1"/>
              <a:gd fmla="val 25000" name="adj2"/>
              <a:gd fmla="val 25000" name="adj3"/>
              <a:gd fmla="val 64977" name="adj4"/>
            </a:avLst>
          </a:prstGeom>
          <a:solidFill>
            <a:srgbClr val="F3F3F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BIC-based elimination retained 7 final predictors</a:t>
            </a:r>
            <a:endParaRPr/>
          </a:p>
        </p:txBody>
      </p:sp>
      <p:sp>
        <p:nvSpPr>
          <p:cNvPr id="190" name="Google Shape;190;p32"/>
          <p:cNvSpPr/>
          <p:nvPr/>
        </p:nvSpPr>
        <p:spPr>
          <a:xfrm>
            <a:off x="6315675" y="2000050"/>
            <a:ext cx="2364600" cy="860100"/>
          </a:xfrm>
          <a:prstGeom prst="leftArrowCallout">
            <a:avLst>
              <a:gd fmla="val 25000" name="adj1"/>
              <a:gd fmla="val 25000" name="adj2"/>
              <a:gd fmla="val 25000" name="adj3"/>
              <a:gd fmla="val 64977" name="adj4"/>
            </a:avLst>
          </a:prstGeom>
          <a:solidFill>
            <a:srgbClr val="F3F3F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All retained variables show strong significance (see |t|-values)</a:t>
            </a:r>
            <a:endParaRPr/>
          </a:p>
        </p:txBody>
      </p:sp>
      <p:sp>
        <p:nvSpPr>
          <p:cNvPr id="191" name="Google Shape;191;p32"/>
          <p:cNvSpPr/>
          <p:nvPr/>
        </p:nvSpPr>
        <p:spPr>
          <a:xfrm>
            <a:off x="6315675" y="882200"/>
            <a:ext cx="2364600" cy="860100"/>
          </a:xfrm>
          <a:prstGeom prst="leftArrowCallout">
            <a:avLst>
              <a:gd fmla="val 25000" name="adj1"/>
              <a:gd fmla="val 25000" name="adj2"/>
              <a:gd fmla="val 25000" name="adj3"/>
              <a:gd fmla="val 64977" name="adj4"/>
            </a:avLst>
          </a:prstGeom>
          <a:solidFill>
            <a:srgbClr val="F3F3F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Momentum and Revenue Growth are the strongest contributors</a:t>
            </a:r>
            <a:endParaRPr/>
          </a:p>
        </p:txBody>
      </p:sp>
      <p:sp>
        <p:nvSpPr>
          <p:cNvPr id="192" name="Google Shape;192;p32"/>
          <p:cNvSpPr txBox="1"/>
          <p:nvPr/>
        </p:nvSpPr>
        <p:spPr>
          <a:xfrm>
            <a:off x="712000" y="4165825"/>
            <a:ext cx="850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Figure 3</a:t>
            </a:r>
            <a:endParaRPr>
              <a:solidFill>
                <a:schemeClr val="lt1"/>
              </a:solidFill>
              <a:highlight>
                <a:schemeClr val="dk1"/>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Variable Selection</a:t>
            </a:r>
            <a:endParaRPr sz="2000"/>
          </a:p>
        </p:txBody>
      </p:sp>
      <p:sp>
        <p:nvSpPr>
          <p:cNvPr id="198" name="Google Shape;198;p33"/>
          <p:cNvSpPr/>
          <p:nvPr/>
        </p:nvSpPr>
        <p:spPr>
          <a:xfrm>
            <a:off x="1302500" y="1275750"/>
            <a:ext cx="6468000" cy="2592000"/>
          </a:xfrm>
          <a:prstGeom prst="flowChartAlternateProcess">
            <a:avLst/>
          </a:prstGeom>
          <a:solidFill>
            <a:srgbClr val="F3F3F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300"/>
              <a:t>Justification</a:t>
            </a:r>
            <a:endParaRPr b="1" sz="1300"/>
          </a:p>
          <a:p>
            <a:pPr indent="0" lvl="0" marL="0" rtl="0" algn="l">
              <a:lnSpc>
                <a:spcPct val="115000"/>
              </a:lnSpc>
              <a:spcBef>
                <a:spcPts val="1400"/>
              </a:spcBef>
              <a:spcAft>
                <a:spcPts val="0"/>
              </a:spcAft>
              <a:buNone/>
            </a:pPr>
            <a:r>
              <a:rPr lang="en" sz="1300"/>
              <a:t>Final variables show strong statistical significance</a:t>
            </a:r>
            <a:endParaRPr sz="1300"/>
          </a:p>
          <a:p>
            <a:pPr indent="0" lvl="0" marL="0" rtl="0" algn="l">
              <a:lnSpc>
                <a:spcPct val="115000"/>
              </a:lnSpc>
              <a:spcBef>
                <a:spcPts val="1400"/>
              </a:spcBef>
              <a:spcAft>
                <a:spcPts val="0"/>
              </a:spcAft>
              <a:buNone/>
            </a:pPr>
            <a:r>
              <a:rPr lang="en" sz="1300"/>
              <a:t>Each factor adds unique predictive information</a:t>
            </a:r>
            <a:endParaRPr sz="1300"/>
          </a:p>
          <a:p>
            <a:pPr indent="0" lvl="0" marL="0" rtl="0" algn="l">
              <a:lnSpc>
                <a:spcPct val="115000"/>
              </a:lnSpc>
              <a:spcBef>
                <a:spcPts val="1400"/>
              </a:spcBef>
              <a:spcAft>
                <a:spcPts val="0"/>
              </a:spcAft>
              <a:buNone/>
            </a:pPr>
            <a:r>
              <a:rPr lang="en" sz="1300"/>
              <a:t>Momentum &amp; Revenue Growth dominate; others align with asset-pricing theory</a:t>
            </a:r>
            <a:endParaRPr sz="1300"/>
          </a:p>
          <a:p>
            <a:pPr indent="0" lvl="0" marL="0" rtl="0" algn="l">
              <a:lnSpc>
                <a:spcPct val="115000"/>
              </a:lnSpc>
              <a:spcBef>
                <a:spcPts val="1400"/>
              </a:spcBef>
              <a:spcAft>
                <a:spcPts val="0"/>
              </a:spcAft>
              <a:buNone/>
            </a:pPr>
            <a:r>
              <a:rPr lang="en" sz="1300"/>
              <a:t>Removing any variable increases BIC → lower model quality</a:t>
            </a:r>
            <a:endParaRPr/>
          </a:p>
          <a:p>
            <a:pPr indent="0" lvl="0" marL="0" rtl="0" algn="ctr">
              <a:spcBef>
                <a:spcPts val="4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Results and Interpretation</a:t>
            </a:r>
            <a:endParaRPr sz="2000"/>
          </a:p>
        </p:txBody>
      </p:sp>
      <p:sp>
        <p:nvSpPr>
          <p:cNvPr id="204" name="Google Shape;204;p34"/>
          <p:cNvSpPr txBox="1"/>
          <p:nvPr/>
        </p:nvSpPr>
        <p:spPr>
          <a:xfrm>
            <a:off x="449063" y="4111925"/>
            <a:ext cx="661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Table 1</a:t>
            </a:r>
            <a:endParaRPr>
              <a:solidFill>
                <a:schemeClr val="lt1"/>
              </a:solidFill>
              <a:highlight>
                <a:schemeClr val="dk1"/>
              </a:highlight>
            </a:endParaRPr>
          </a:p>
        </p:txBody>
      </p:sp>
      <p:sp>
        <p:nvSpPr>
          <p:cNvPr id="205" name="Google Shape;205;p34"/>
          <p:cNvSpPr txBox="1"/>
          <p:nvPr/>
        </p:nvSpPr>
        <p:spPr>
          <a:xfrm>
            <a:off x="4737100" y="922063"/>
            <a:ext cx="4309500" cy="229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t>Findings:</a:t>
            </a:r>
            <a:endParaRPr b="1" sz="1200"/>
          </a:p>
          <a:p>
            <a:pPr indent="-304800" lvl="0" marL="457200" rtl="0" algn="l">
              <a:lnSpc>
                <a:spcPct val="115000"/>
              </a:lnSpc>
              <a:spcBef>
                <a:spcPts val="1200"/>
              </a:spcBef>
              <a:spcAft>
                <a:spcPts val="0"/>
              </a:spcAft>
              <a:buSzPts val="1200"/>
              <a:buChar char="●"/>
            </a:pPr>
            <a:r>
              <a:rPr b="1" lang="en" sz="1200"/>
              <a:t>Significance:</a:t>
            </a:r>
            <a:r>
              <a:rPr lang="en" sz="1200"/>
              <a:t> All selected factors are </a:t>
            </a:r>
            <a:r>
              <a:rPr lang="en" sz="1200">
                <a:solidFill>
                  <a:schemeClr val="dk1"/>
                </a:solidFill>
              </a:rPr>
              <a:t>statistically significant at the 0.1% level </a:t>
            </a:r>
            <a:r>
              <a:rPr lang="en" sz="1200"/>
              <a:t>(T-values &gt; 3.29).</a:t>
            </a:r>
            <a:endParaRPr sz="1200"/>
          </a:p>
          <a:p>
            <a:pPr indent="-304800" lvl="0" marL="457200" rtl="0" algn="l">
              <a:lnSpc>
                <a:spcPct val="115000"/>
              </a:lnSpc>
              <a:spcBef>
                <a:spcPts val="0"/>
              </a:spcBef>
              <a:spcAft>
                <a:spcPts val="0"/>
              </a:spcAft>
              <a:buSzPts val="1200"/>
              <a:buChar char="●"/>
            </a:pPr>
            <a:r>
              <a:rPr b="1" lang="en" sz="1200"/>
              <a:t>Momentum</a:t>
            </a:r>
            <a:r>
              <a:rPr lang="en" sz="1200"/>
              <a:t>: Has the strongest positive effect on next-month excess returns.</a:t>
            </a:r>
            <a:endParaRPr sz="1200"/>
          </a:p>
          <a:p>
            <a:pPr indent="-304800" lvl="0" marL="457200" rtl="0" algn="l">
              <a:lnSpc>
                <a:spcPct val="115000"/>
              </a:lnSpc>
              <a:spcBef>
                <a:spcPts val="0"/>
              </a:spcBef>
              <a:spcAft>
                <a:spcPts val="0"/>
              </a:spcAft>
              <a:buSzPts val="1200"/>
              <a:buChar char="●"/>
            </a:pPr>
            <a:r>
              <a:rPr b="1" lang="en" sz="1200"/>
              <a:t>Book-to-Market &amp; Reversal: </a:t>
            </a:r>
            <a:r>
              <a:rPr lang="en" sz="1200"/>
              <a:t>Show distinct negative effects, indicating a "Growth Premium" and mean reversion.</a:t>
            </a:r>
            <a:endParaRPr sz="1200"/>
          </a:p>
          <a:p>
            <a:pPr indent="-304800" lvl="0" marL="457200" rtl="0" algn="l">
              <a:lnSpc>
                <a:spcPct val="115000"/>
              </a:lnSpc>
              <a:spcBef>
                <a:spcPts val="0"/>
              </a:spcBef>
              <a:spcAft>
                <a:spcPts val="0"/>
              </a:spcAft>
              <a:buSzPts val="1200"/>
              <a:buChar char="●"/>
            </a:pPr>
            <a:r>
              <a:rPr b="1" lang="en" sz="1200"/>
              <a:t>Size </a:t>
            </a:r>
            <a:r>
              <a:rPr lang="en" sz="1200"/>
              <a:t>and</a:t>
            </a:r>
            <a:r>
              <a:rPr b="1" lang="en" sz="1200"/>
              <a:t> Asset Growth →</a:t>
            </a:r>
            <a:r>
              <a:rPr lang="en" sz="1200">
                <a:solidFill>
                  <a:schemeClr val="dk1"/>
                </a:solidFill>
              </a:rPr>
              <a:t> modest positive return premiums.</a:t>
            </a:r>
            <a:br>
              <a:rPr lang="en" sz="1200">
                <a:solidFill>
                  <a:schemeClr val="dk1"/>
                </a:solidFill>
              </a:rPr>
            </a:br>
            <a:endParaRPr sz="1200">
              <a:solidFill>
                <a:schemeClr val="dk1"/>
              </a:solidFill>
            </a:endParaRPr>
          </a:p>
        </p:txBody>
      </p:sp>
      <p:sp>
        <p:nvSpPr>
          <p:cNvPr id="206" name="Google Shape;206;p34"/>
          <p:cNvSpPr txBox="1"/>
          <p:nvPr/>
        </p:nvSpPr>
        <p:spPr>
          <a:xfrm>
            <a:off x="4809125" y="3433925"/>
            <a:ext cx="4106400" cy="10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t>Model Fit: </a:t>
            </a:r>
            <a:endParaRPr b="1" sz="1200"/>
          </a:p>
          <a:p>
            <a:pPr indent="0" lvl="0" marL="0" rtl="0" algn="l">
              <a:spcBef>
                <a:spcPts val="0"/>
              </a:spcBef>
              <a:spcAft>
                <a:spcPts val="0"/>
              </a:spcAft>
              <a:buNone/>
            </a:pPr>
            <a:r>
              <a:rPr lang="en" sz="1200"/>
              <a:t>Adjusted R^2 = 0.05. This low value is consistent with monthly individual stock returns, which are dominated by random noise.</a:t>
            </a:r>
            <a:endParaRPr sz="1200"/>
          </a:p>
        </p:txBody>
      </p:sp>
      <p:graphicFrame>
        <p:nvGraphicFramePr>
          <p:cNvPr id="207" name="Google Shape;207;p34"/>
          <p:cNvGraphicFramePr/>
          <p:nvPr/>
        </p:nvGraphicFramePr>
        <p:xfrm>
          <a:off x="525275" y="1117550"/>
          <a:ext cx="3000000" cy="3000000"/>
        </p:xfrm>
        <a:graphic>
          <a:graphicData uri="http://schemas.openxmlformats.org/drawingml/2006/table">
            <a:tbl>
              <a:tblPr>
                <a:noFill/>
                <a:tableStyleId>{2D89F899-C7B2-4AD8-9931-47AD801F6B15}</a:tableStyleId>
              </a:tblPr>
              <a:tblGrid>
                <a:gridCol w="1613575"/>
                <a:gridCol w="1395875"/>
                <a:gridCol w="1037275"/>
              </a:tblGrid>
              <a:tr h="363550">
                <a:tc>
                  <a:txBody>
                    <a:bodyPr/>
                    <a:lstStyle/>
                    <a:p>
                      <a:pPr indent="0" lvl="0" marL="0" rtl="0" algn="ctr">
                        <a:lnSpc>
                          <a:spcPct val="115000"/>
                        </a:lnSpc>
                        <a:spcBef>
                          <a:spcPts val="0"/>
                        </a:spcBef>
                        <a:spcAft>
                          <a:spcPts val="0"/>
                        </a:spcAft>
                        <a:buNone/>
                      </a:pPr>
                      <a:r>
                        <a:rPr b="1" lang="en" sz="1300">
                          <a:solidFill>
                            <a:schemeClr val="lt1"/>
                          </a:solidFill>
                        </a:rPr>
                        <a:t>Variable</a:t>
                      </a:r>
                      <a:endParaRPr b="1" sz="1300">
                        <a:solidFill>
                          <a:schemeClr val="lt1"/>
                        </a:solidFill>
                      </a:endParaRPr>
                    </a:p>
                  </a:txBody>
                  <a:tcPr marT="76200" marB="76200" marR="114300" marL="1143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300">
                          <a:solidFill>
                            <a:schemeClr val="lt1"/>
                          </a:solidFill>
                        </a:rPr>
                        <a:t>Coefficient</a:t>
                      </a:r>
                      <a:endParaRPr b="1" sz="1300">
                        <a:solidFill>
                          <a:schemeClr val="lt1"/>
                        </a:solidFill>
                      </a:endParaRPr>
                    </a:p>
                  </a:txBody>
                  <a:tcPr marT="76200" marB="76200" marR="114300" marL="114300">
                    <a:lnL cap="flat" cmpd="sng" w="9525">
                      <a:solidFill>
                        <a:srgbClr val="9E9E9E"/>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300">
                          <a:solidFill>
                            <a:schemeClr val="lt1"/>
                          </a:solidFill>
                        </a:rPr>
                        <a:t>T-value</a:t>
                      </a:r>
                      <a:endParaRPr b="1" sz="1300">
                        <a:solidFill>
                          <a:schemeClr val="lt1"/>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1"/>
                    </a:solidFill>
                  </a:tcPr>
                </a:tc>
              </a:tr>
              <a:tr h="363550">
                <a:tc>
                  <a:txBody>
                    <a:bodyPr/>
                    <a:lstStyle/>
                    <a:p>
                      <a:pPr indent="0" lvl="0" marL="0" rtl="0" algn="ctr">
                        <a:lnSpc>
                          <a:spcPct val="115000"/>
                        </a:lnSpc>
                        <a:spcBef>
                          <a:spcPts val="0"/>
                        </a:spcBef>
                        <a:spcAft>
                          <a:spcPts val="0"/>
                        </a:spcAft>
                        <a:buNone/>
                      </a:pPr>
                      <a:r>
                        <a:rPr b="1" lang="en" sz="1100">
                          <a:solidFill>
                            <a:srgbClr val="1F1F1F"/>
                          </a:solidFill>
                        </a:rPr>
                        <a:t>Rank_Mom</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0.1126***</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101.80</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Rank_Rev</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-0.0384***</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-39.62</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Rank_OpLev</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-0.0131***</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-11.65</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Rank_BM</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-0.0116***</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-12.88</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Rank_Size</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0.0098***</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10.39</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Rank_FinLev</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-0.0091***</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-8.15</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3550">
                <a:tc>
                  <a:txBody>
                    <a:bodyPr/>
                    <a:lstStyle/>
                    <a:p>
                      <a:pPr indent="0" lvl="0" marL="0" rtl="0" algn="ctr">
                        <a:lnSpc>
                          <a:spcPct val="115000"/>
                        </a:lnSpc>
                        <a:spcBef>
                          <a:spcPts val="0"/>
                        </a:spcBef>
                        <a:spcAft>
                          <a:spcPts val="0"/>
                        </a:spcAft>
                        <a:buNone/>
                      </a:pPr>
                      <a:r>
                        <a:rPr b="1" lang="en" sz="1100">
                          <a:solidFill>
                            <a:srgbClr val="1F1F1F"/>
                          </a:solidFill>
                        </a:rPr>
                        <a:t>Rank_AG</a:t>
                      </a:r>
                      <a:endParaRPr b="1"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-0.0061***</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-5.91</a:t>
                      </a:r>
                      <a:endParaRPr sz="1100">
                        <a:solidFill>
                          <a:srgbClr val="1F1F1F"/>
                        </a:solidFill>
                      </a:endParaRPr>
                    </a:p>
                  </a:txBody>
                  <a:tcPr marT="76200" marB="7620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Prediction (Out-of-Sample)</a:t>
            </a:r>
            <a:endParaRPr sz="2000"/>
          </a:p>
        </p:txBody>
      </p:sp>
      <p:graphicFrame>
        <p:nvGraphicFramePr>
          <p:cNvPr id="213" name="Google Shape;213;p35"/>
          <p:cNvGraphicFramePr/>
          <p:nvPr/>
        </p:nvGraphicFramePr>
        <p:xfrm>
          <a:off x="1759450" y="1616025"/>
          <a:ext cx="3000000" cy="3000000"/>
        </p:xfrm>
        <a:graphic>
          <a:graphicData uri="http://schemas.openxmlformats.org/drawingml/2006/table">
            <a:tbl>
              <a:tblPr>
                <a:noFill/>
                <a:tableStyleId>{8D6B4787-D998-45B7-BF7A-10820D15526B}</a:tableStyleId>
              </a:tblPr>
              <a:tblGrid>
                <a:gridCol w="2855875"/>
                <a:gridCol w="2855875"/>
              </a:tblGrid>
              <a:tr h="381000">
                <a:tc>
                  <a:txBody>
                    <a:bodyPr/>
                    <a:lstStyle/>
                    <a:p>
                      <a:pPr indent="0" lvl="0" marL="0" rtl="0" algn="ctr">
                        <a:spcBef>
                          <a:spcPts val="0"/>
                        </a:spcBef>
                        <a:spcAft>
                          <a:spcPts val="0"/>
                        </a:spcAft>
                        <a:buNone/>
                      </a:pPr>
                      <a:r>
                        <a:rPr b="1" lang="en" sz="1500">
                          <a:solidFill>
                            <a:schemeClr val="lt1"/>
                          </a:solidFill>
                        </a:rPr>
                        <a:t>Metric</a:t>
                      </a:r>
                      <a:endParaRPr b="1" sz="1500">
                        <a:solidFill>
                          <a:schemeClr val="lt1"/>
                        </a:solidFill>
                      </a:endParaRPr>
                    </a:p>
                  </a:txBody>
                  <a:tcPr marT="91425" marB="91425" marR="91425" marL="91425" anchor="ctr">
                    <a:solidFill>
                      <a:schemeClr val="dk1"/>
                    </a:solidFill>
                  </a:tcPr>
                </a:tc>
                <a:tc>
                  <a:txBody>
                    <a:bodyPr/>
                    <a:lstStyle/>
                    <a:p>
                      <a:pPr indent="0" lvl="0" marL="0" rtl="0" algn="ctr">
                        <a:spcBef>
                          <a:spcPts val="0"/>
                        </a:spcBef>
                        <a:spcAft>
                          <a:spcPts val="0"/>
                        </a:spcAft>
                        <a:buNone/>
                      </a:pPr>
                      <a:r>
                        <a:rPr b="1" lang="en" sz="1500">
                          <a:solidFill>
                            <a:schemeClr val="lt1"/>
                          </a:solidFill>
                        </a:rPr>
                        <a:t>Value</a:t>
                      </a:r>
                      <a:endParaRPr b="1" sz="1500">
                        <a:solidFill>
                          <a:schemeClr val="lt1"/>
                        </a:solidFill>
                      </a:endParaRPr>
                    </a:p>
                  </a:txBody>
                  <a:tcPr marT="91425" marB="91425" marR="91425" marL="91425" anchor="ctr">
                    <a:solidFill>
                      <a:schemeClr val="dk1"/>
                    </a:solidFill>
                  </a:tcPr>
                </a:tc>
              </a:tr>
              <a:tr h="381000">
                <a:tc>
                  <a:txBody>
                    <a:bodyPr/>
                    <a:lstStyle/>
                    <a:p>
                      <a:pPr indent="0" lvl="0" marL="0" rtl="0" algn="ctr">
                        <a:spcBef>
                          <a:spcPts val="0"/>
                        </a:spcBef>
                        <a:spcAft>
                          <a:spcPts val="0"/>
                        </a:spcAft>
                        <a:buNone/>
                      </a:pPr>
                      <a:r>
                        <a:rPr lang="en" sz="1200"/>
                        <a:t>Train RMSE</a:t>
                      </a:r>
                      <a:endParaRPr sz="1200"/>
                    </a:p>
                  </a:txBody>
                  <a:tcPr marT="91425" marB="91425" marR="91425" marL="91425" anchor="ctr"/>
                </a:tc>
                <a:tc>
                  <a:txBody>
                    <a:bodyPr/>
                    <a:lstStyle/>
                    <a:p>
                      <a:pPr indent="0" lvl="0" marL="0" rtl="0" algn="ctr">
                        <a:spcBef>
                          <a:spcPts val="0"/>
                        </a:spcBef>
                        <a:spcAft>
                          <a:spcPts val="0"/>
                        </a:spcAft>
                        <a:buNone/>
                      </a:pPr>
                      <a:r>
                        <a:rPr lang="en" sz="1200"/>
                        <a:t>0.1418</a:t>
                      </a:r>
                      <a:endParaRPr sz="1200"/>
                    </a:p>
                  </a:txBody>
                  <a:tcPr marT="91425" marB="91425" marR="91425" marL="91425" anchor="ctr"/>
                </a:tc>
              </a:tr>
              <a:tr h="381000">
                <a:tc>
                  <a:txBody>
                    <a:bodyPr/>
                    <a:lstStyle/>
                    <a:p>
                      <a:pPr indent="0" lvl="0" marL="0" rtl="0" algn="ctr">
                        <a:spcBef>
                          <a:spcPts val="0"/>
                        </a:spcBef>
                        <a:spcAft>
                          <a:spcPts val="0"/>
                        </a:spcAft>
                        <a:buNone/>
                      </a:pPr>
                      <a:r>
                        <a:rPr lang="en" sz="1200"/>
                        <a:t>Test RMSE</a:t>
                      </a:r>
                      <a:endParaRPr sz="1200"/>
                    </a:p>
                  </a:txBody>
                  <a:tcPr marT="91425" marB="91425" marR="91425" marL="91425" anchor="ctr"/>
                </a:tc>
                <a:tc>
                  <a:txBody>
                    <a:bodyPr/>
                    <a:lstStyle/>
                    <a:p>
                      <a:pPr indent="0" lvl="0" marL="0" rtl="0" algn="ctr">
                        <a:spcBef>
                          <a:spcPts val="0"/>
                        </a:spcBef>
                        <a:spcAft>
                          <a:spcPts val="0"/>
                        </a:spcAft>
                        <a:buNone/>
                      </a:pPr>
                      <a:r>
                        <a:rPr lang="en" sz="1200"/>
                        <a:t>0.1421</a:t>
                      </a:r>
                      <a:endParaRPr sz="1200"/>
                    </a:p>
                  </a:txBody>
                  <a:tcPr marT="91425" marB="91425" marR="91425" marL="91425" anchor="ctr"/>
                </a:tc>
              </a:tr>
            </a:tbl>
          </a:graphicData>
        </a:graphic>
      </p:graphicFrame>
      <p:sp>
        <p:nvSpPr>
          <p:cNvPr id="214" name="Google Shape;214;p35"/>
          <p:cNvSpPr txBox="1"/>
          <p:nvPr/>
        </p:nvSpPr>
        <p:spPr>
          <a:xfrm>
            <a:off x="1198700" y="3326500"/>
            <a:ext cx="7429800" cy="735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Train and test performance are nearly identical, showing no overfitting.</a:t>
            </a:r>
            <a:endParaRPr sz="1200"/>
          </a:p>
          <a:p>
            <a:pPr indent="-304800" lvl="0" marL="457200" rtl="0" algn="l">
              <a:spcBef>
                <a:spcPts val="0"/>
              </a:spcBef>
              <a:spcAft>
                <a:spcPts val="0"/>
              </a:spcAft>
              <a:buSzPts val="1200"/>
              <a:buChar char="●"/>
            </a:pPr>
            <a:r>
              <a:rPr lang="en" sz="1200"/>
              <a:t>The simple ranked-factor model generalizes well across time.</a:t>
            </a:r>
            <a:endParaRPr sz="1200"/>
          </a:p>
          <a:p>
            <a:pPr indent="-304800" lvl="0" marL="457200" rtl="0" algn="l">
              <a:spcBef>
                <a:spcPts val="0"/>
              </a:spcBef>
              <a:spcAft>
                <a:spcPts val="0"/>
              </a:spcAft>
              <a:buSzPts val="1200"/>
              <a:buChar char="●"/>
            </a:pPr>
            <a:r>
              <a:rPr lang="en" sz="1200"/>
              <a:t>Monthly return prediction is noisy, so stability matters more than absolute RMSE.</a:t>
            </a:r>
            <a:endParaRPr sz="1200"/>
          </a:p>
        </p:txBody>
      </p:sp>
      <p:sp>
        <p:nvSpPr>
          <p:cNvPr id="215" name="Google Shape;215;p35"/>
          <p:cNvSpPr txBox="1"/>
          <p:nvPr/>
        </p:nvSpPr>
        <p:spPr>
          <a:xfrm>
            <a:off x="433575" y="887325"/>
            <a:ext cx="79617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We evaluate model performance using a temporal split (early period train → later period test). Rank transformation reduces impact of market regime shifts, improving generalizability.</a:t>
            </a:r>
            <a:endParaRPr sz="1200"/>
          </a:p>
        </p:txBody>
      </p:sp>
      <p:sp>
        <p:nvSpPr>
          <p:cNvPr id="216" name="Google Shape;216;p35"/>
          <p:cNvSpPr txBox="1"/>
          <p:nvPr/>
        </p:nvSpPr>
        <p:spPr>
          <a:xfrm>
            <a:off x="1680925" y="2834100"/>
            <a:ext cx="825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Table</a:t>
            </a:r>
            <a:r>
              <a:rPr lang="en" sz="1000">
                <a:solidFill>
                  <a:schemeClr val="lt1"/>
                </a:solidFill>
                <a:highlight>
                  <a:schemeClr val="dk1"/>
                </a:highlight>
              </a:rPr>
              <a:t> 2</a:t>
            </a:r>
            <a:endParaRPr>
              <a:solidFill>
                <a:schemeClr val="lt1"/>
              </a:solidFill>
              <a:highlight>
                <a:schemeClr val="dk1"/>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Sensitivity Analysis</a:t>
            </a:r>
            <a:endParaRPr sz="2000"/>
          </a:p>
        </p:txBody>
      </p:sp>
      <p:sp>
        <p:nvSpPr>
          <p:cNvPr id="222" name="Google Shape;222;p36"/>
          <p:cNvSpPr txBox="1"/>
          <p:nvPr/>
        </p:nvSpPr>
        <p:spPr>
          <a:xfrm>
            <a:off x="1182950" y="721150"/>
            <a:ext cx="82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highlight>
                  <a:schemeClr val="dk1"/>
                </a:highlight>
              </a:rPr>
              <a:t>Table 3</a:t>
            </a:r>
            <a:endParaRPr>
              <a:solidFill>
                <a:schemeClr val="lt1"/>
              </a:solidFill>
              <a:highlight>
                <a:schemeClr val="dk1"/>
              </a:highlight>
            </a:endParaRPr>
          </a:p>
        </p:txBody>
      </p:sp>
      <p:sp>
        <p:nvSpPr>
          <p:cNvPr id="223" name="Google Shape;223;p36"/>
          <p:cNvSpPr txBox="1"/>
          <p:nvPr/>
        </p:nvSpPr>
        <p:spPr>
          <a:xfrm>
            <a:off x="324050" y="815025"/>
            <a:ext cx="7836000" cy="6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graphicFrame>
        <p:nvGraphicFramePr>
          <p:cNvPr id="224" name="Google Shape;224;p36"/>
          <p:cNvGraphicFramePr/>
          <p:nvPr/>
        </p:nvGraphicFramePr>
        <p:xfrm>
          <a:off x="1259538" y="1059850"/>
          <a:ext cx="3000000" cy="3000000"/>
        </p:xfrm>
        <a:graphic>
          <a:graphicData uri="http://schemas.openxmlformats.org/drawingml/2006/table">
            <a:tbl>
              <a:tblPr>
                <a:noFill/>
                <a:tableStyleId>{2D89F899-C7B2-4AD8-9931-47AD801F6B15}</a:tableStyleId>
              </a:tblPr>
              <a:tblGrid>
                <a:gridCol w="1310900"/>
                <a:gridCol w="1206850"/>
                <a:gridCol w="1238075"/>
                <a:gridCol w="1955975"/>
              </a:tblGrid>
              <a:tr h="300050">
                <a:tc>
                  <a:txBody>
                    <a:bodyPr/>
                    <a:lstStyle/>
                    <a:p>
                      <a:pPr indent="0" lvl="0" marL="0" rtl="0" algn="ctr">
                        <a:lnSpc>
                          <a:spcPct val="115000"/>
                        </a:lnSpc>
                        <a:spcBef>
                          <a:spcPts val="0"/>
                        </a:spcBef>
                        <a:spcAft>
                          <a:spcPts val="0"/>
                        </a:spcAft>
                        <a:buNone/>
                      </a:pPr>
                      <a:r>
                        <a:rPr b="1" lang="en" sz="1200">
                          <a:solidFill>
                            <a:schemeClr val="lt1"/>
                          </a:solidFill>
                        </a:rPr>
                        <a:t>Variable</a:t>
                      </a:r>
                      <a:endParaRPr b="1" sz="1200">
                        <a:solidFill>
                          <a:schemeClr val="lt1"/>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200">
                          <a:solidFill>
                            <a:schemeClr val="lt1"/>
                          </a:solidFill>
                        </a:rPr>
                        <a:t>Y_at_Min(0)</a:t>
                      </a:r>
                      <a:endParaRPr b="1" sz="1200">
                        <a:solidFill>
                          <a:schemeClr val="lt1"/>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200">
                          <a:solidFill>
                            <a:schemeClr val="lt1"/>
                          </a:solidFill>
                        </a:rPr>
                        <a:t>Y_at_Max(1)</a:t>
                      </a:r>
                      <a:endParaRPr b="1" sz="1200">
                        <a:solidFill>
                          <a:schemeClr val="lt1"/>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200">
                          <a:solidFill>
                            <a:schemeClr val="lt1"/>
                          </a:solidFill>
                        </a:rPr>
                        <a:t>Total_Impact</a:t>
                      </a:r>
                      <a:endParaRPr b="1" sz="1200">
                        <a:solidFill>
                          <a:schemeClr val="lt1"/>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300050">
                <a:tc>
                  <a:txBody>
                    <a:bodyPr/>
                    <a:lstStyle/>
                    <a:p>
                      <a:pPr indent="0" lvl="0" marL="0" rtl="0" algn="ctr">
                        <a:lnSpc>
                          <a:spcPct val="115000"/>
                        </a:lnSpc>
                        <a:spcBef>
                          <a:spcPts val="0"/>
                        </a:spcBef>
                        <a:spcAft>
                          <a:spcPts val="0"/>
                        </a:spcAft>
                        <a:buNone/>
                      </a:pPr>
                      <a:r>
                        <a:rPr b="1" lang="en" sz="1100">
                          <a:solidFill>
                            <a:srgbClr val="1F1F1F"/>
                          </a:solidFill>
                        </a:rPr>
                        <a:t>Rank_Mom</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-0.0484</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0.0641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0.1125</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Rank_Rev</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0.0271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-0.0113</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-0.0384</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Rank_OpLev</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0.0144</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0.0013</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-0.0131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Rank_BM</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0.0137</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0.0021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-0.0116</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Rank_Size</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0.0029</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0.0128</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0.0098</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Rank_FinLev</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0.0124</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0.0033</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-0.0091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0050">
                <a:tc>
                  <a:txBody>
                    <a:bodyPr/>
                    <a:lstStyle/>
                    <a:p>
                      <a:pPr indent="0" lvl="0" marL="0" rtl="0" algn="ctr">
                        <a:lnSpc>
                          <a:spcPct val="115000"/>
                        </a:lnSpc>
                        <a:spcBef>
                          <a:spcPts val="0"/>
                        </a:spcBef>
                        <a:spcAft>
                          <a:spcPts val="0"/>
                        </a:spcAft>
                        <a:buNone/>
                      </a:pPr>
                      <a:r>
                        <a:rPr b="1" lang="en" sz="1100">
                          <a:solidFill>
                            <a:srgbClr val="1F1F1F"/>
                          </a:solidFill>
                        </a:rPr>
                        <a:t>Rank_AG</a:t>
                      </a:r>
                      <a:endParaRPr b="1"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0.0109</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0.0048</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rPr>
                        <a:t>-0.0061</a:t>
                      </a:r>
                      <a:endParaRPr sz="1100">
                        <a:solidFill>
                          <a:srgbClr val="1F1F1F"/>
                        </a:solidFill>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25" name="Google Shape;225;p36"/>
          <p:cNvSpPr txBox="1"/>
          <p:nvPr/>
        </p:nvSpPr>
        <p:spPr>
          <a:xfrm>
            <a:off x="1016000" y="3924300"/>
            <a:ext cx="64770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Since the model is </a:t>
            </a:r>
            <a:r>
              <a:rPr i="1" lang="en" sz="1100">
                <a:solidFill>
                  <a:schemeClr val="dk1"/>
                </a:solidFill>
              </a:rPr>
              <a:t>linear</a:t>
            </a:r>
            <a:r>
              <a:rPr lang="en" sz="1100"/>
              <a:t>, the coefficient represents the constant slope. This table quantifies the total economic spread between the lowest (0) and highest (1) ranked stocks for each factor.</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Model Limitations &amp; Improvements</a:t>
            </a:r>
            <a:endParaRPr sz="2000"/>
          </a:p>
        </p:txBody>
      </p:sp>
      <p:sp>
        <p:nvSpPr>
          <p:cNvPr id="231" name="Google Shape;231;p37"/>
          <p:cNvSpPr txBox="1"/>
          <p:nvPr/>
        </p:nvSpPr>
        <p:spPr>
          <a:xfrm>
            <a:off x="474225" y="1095425"/>
            <a:ext cx="8012700" cy="31590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t>Limits</a:t>
            </a:r>
            <a:endParaRPr b="1"/>
          </a:p>
          <a:p>
            <a:pPr indent="-317500" lvl="0" marL="457200" rtl="0" algn="l">
              <a:spcBef>
                <a:spcPts val="0"/>
              </a:spcBef>
              <a:spcAft>
                <a:spcPts val="0"/>
              </a:spcAft>
              <a:buSzPts val="1400"/>
              <a:buChar char="●"/>
            </a:pPr>
            <a:r>
              <a:rPr b="1" lang="en"/>
              <a:t>Assumption Violation (Linearity)</a:t>
            </a:r>
            <a:r>
              <a:rPr lang="en"/>
              <a:t>: The linear form misses nonlinear patterns, potentially biasing inference on "Superstar" stocks.</a:t>
            </a:r>
            <a:endParaRPr/>
          </a:p>
          <a:p>
            <a:pPr indent="-317500" lvl="0" marL="457200" rtl="0" algn="l">
              <a:spcBef>
                <a:spcPts val="0"/>
              </a:spcBef>
              <a:spcAft>
                <a:spcPts val="0"/>
              </a:spcAft>
              <a:buSzPts val="1400"/>
              <a:buChar char="●"/>
            </a:pPr>
            <a:r>
              <a:rPr b="1" lang="en"/>
              <a:t>Outliers &amp; Scale: </a:t>
            </a:r>
            <a:r>
              <a:rPr lang="en"/>
              <a:t>Ranking transformation mitigates outliers but compresses magnitude differences, affecting the precision of coefficient estimates.</a:t>
            </a:r>
            <a:endParaRPr/>
          </a:p>
          <a:p>
            <a:pPr indent="-317500" lvl="0" marL="457200" rtl="0" algn="l">
              <a:spcBef>
                <a:spcPts val="0"/>
              </a:spcBef>
              <a:spcAft>
                <a:spcPts val="0"/>
              </a:spcAft>
              <a:buSzPts val="1400"/>
              <a:buChar char="●"/>
            </a:pPr>
            <a:r>
              <a:rPr b="1" lang="en"/>
              <a:t>Prediction:</a:t>
            </a:r>
            <a:r>
              <a:rPr lang="en"/>
              <a:t> Low R^2 reflects high idiosyncratic noise, limiting absolute predictive power despite stable relative rankings.</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rPr b="1" lang="en"/>
              <a:t>Future Improvements</a:t>
            </a:r>
            <a:endParaRPr b="1"/>
          </a:p>
          <a:p>
            <a:pPr indent="-317500" lvl="0" marL="457200" rtl="0" algn="l">
              <a:spcBef>
                <a:spcPts val="0"/>
              </a:spcBef>
              <a:spcAft>
                <a:spcPts val="0"/>
              </a:spcAft>
              <a:buSzPts val="1400"/>
              <a:buChar char="●"/>
            </a:pPr>
            <a:r>
              <a:rPr lang="en"/>
              <a:t>Include industry fixed effects to control for sector-specific risks.</a:t>
            </a:r>
            <a:endParaRPr/>
          </a:p>
          <a:p>
            <a:pPr indent="-317500" lvl="0" marL="457200" rtl="0" algn="l">
              <a:spcBef>
                <a:spcPts val="0"/>
              </a:spcBef>
              <a:spcAft>
                <a:spcPts val="0"/>
              </a:spcAft>
              <a:buSzPts val="1400"/>
              <a:buChar char="●"/>
            </a:pPr>
            <a:r>
              <a:rPr lang="en"/>
              <a:t>Test nonlinear or interaction terms to better capture complex relationships.</a:t>
            </a:r>
            <a:endParaRPr/>
          </a:p>
          <a:p>
            <a:pPr indent="-317500" lvl="0" marL="457200" rtl="0" algn="l">
              <a:spcBef>
                <a:spcPts val="0"/>
              </a:spcBef>
              <a:spcAft>
                <a:spcPts val="0"/>
              </a:spcAft>
              <a:buSzPts val="1400"/>
              <a:buChar char="●"/>
            </a:pPr>
            <a:r>
              <a:rPr lang="en"/>
              <a:t>Split sample into sub-periods (e.g., pre/post 2015), to account for changing market regimes.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Conclusions</a:t>
            </a:r>
            <a:endParaRPr sz="2000"/>
          </a:p>
        </p:txBody>
      </p:sp>
      <p:grpSp>
        <p:nvGrpSpPr>
          <p:cNvPr id="237" name="Google Shape;237;p38"/>
          <p:cNvGrpSpPr/>
          <p:nvPr/>
        </p:nvGrpSpPr>
        <p:grpSpPr>
          <a:xfrm>
            <a:off x="770987" y="716175"/>
            <a:ext cx="2495204" cy="3723423"/>
            <a:chOff x="1111182" y="283725"/>
            <a:chExt cx="2097868" cy="4089876"/>
          </a:xfrm>
        </p:grpSpPr>
        <p:sp>
          <p:nvSpPr>
            <p:cNvPr id="238" name="Google Shape;238;p38"/>
            <p:cNvSpPr/>
            <p:nvPr/>
          </p:nvSpPr>
          <p:spPr>
            <a:xfrm>
              <a:off x="1178650" y="283725"/>
              <a:ext cx="2030400" cy="407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8"/>
            <p:cNvSpPr/>
            <p:nvPr/>
          </p:nvSpPr>
          <p:spPr>
            <a:xfrm>
              <a:off x="1118224" y="341749"/>
              <a:ext cx="2048100" cy="2490600"/>
            </a:xfrm>
            <a:prstGeom prst="rect">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8"/>
            <p:cNvSpPr/>
            <p:nvPr/>
          </p:nvSpPr>
          <p:spPr>
            <a:xfrm>
              <a:off x="1256161" y="814387"/>
              <a:ext cx="1823700" cy="1862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Momentum and Revenue Growth are the strongest predictors</a:t>
              </a:r>
              <a:r>
                <a:rPr lang="en" sz="1200">
                  <a:solidFill>
                    <a:schemeClr val="dk1"/>
                  </a:solidFill>
                  <a:latin typeface="Roboto Medium"/>
                  <a:ea typeface="Roboto Medium"/>
                  <a:cs typeface="Roboto Medium"/>
                  <a:sym typeface="Roboto Medium"/>
                </a:rPr>
                <a:t>.</a:t>
              </a:r>
              <a:br>
                <a:rPr lang="en" sz="1200">
                  <a:solidFill>
                    <a:schemeClr val="dk1"/>
                  </a:solidFill>
                  <a:latin typeface="Roboto Medium"/>
                  <a:ea typeface="Roboto Medium"/>
                  <a:cs typeface="Roboto Medium"/>
                  <a:sym typeface="Roboto Medium"/>
                </a:rPr>
              </a:b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The final 7-factor model remains stable and interpretable despite low R².</a:t>
              </a: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t/>
              </a:r>
              <a:endParaRPr sz="1200">
                <a:solidFill>
                  <a:srgbClr val="1D7E75"/>
                </a:solidFill>
                <a:latin typeface="Roboto Medium"/>
                <a:ea typeface="Roboto Medium"/>
                <a:cs typeface="Roboto Medium"/>
                <a:sym typeface="Roboto Medium"/>
              </a:endParaRPr>
            </a:p>
          </p:txBody>
        </p:sp>
        <p:sp>
          <p:nvSpPr>
            <p:cNvPr id="241" name="Google Shape;241;p38"/>
            <p:cNvSpPr/>
            <p:nvPr/>
          </p:nvSpPr>
          <p:spPr>
            <a:xfrm rot="5400000">
              <a:off x="1938871" y="2785391"/>
              <a:ext cx="389100" cy="278100"/>
            </a:xfrm>
            <a:prstGeom prst="rightArrow">
              <a:avLst>
                <a:gd fmla="val 34239" name="adj1"/>
                <a:gd fmla="val 57035" name="adj2"/>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8"/>
            <p:cNvSpPr/>
            <p:nvPr/>
          </p:nvSpPr>
          <p:spPr>
            <a:xfrm>
              <a:off x="1111182" y="3288201"/>
              <a:ext cx="2030400" cy="1085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600">
                  <a:solidFill>
                    <a:srgbClr val="FFFFFF"/>
                  </a:solidFill>
                  <a:latin typeface="Roboto"/>
                  <a:ea typeface="Roboto"/>
                  <a:cs typeface="Roboto"/>
                  <a:sym typeface="Roboto"/>
                </a:rPr>
                <a:t>Key Takeaways</a:t>
              </a:r>
              <a:endParaRPr sz="1600">
                <a:solidFill>
                  <a:srgbClr val="FFFFFF"/>
                </a:solidFill>
                <a:latin typeface="Roboto"/>
                <a:ea typeface="Roboto"/>
                <a:cs typeface="Roboto"/>
                <a:sym typeface="Roboto"/>
              </a:endParaRPr>
            </a:p>
          </p:txBody>
        </p:sp>
      </p:grpSp>
      <p:grpSp>
        <p:nvGrpSpPr>
          <p:cNvPr id="243" name="Google Shape;243;p38"/>
          <p:cNvGrpSpPr/>
          <p:nvPr/>
        </p:nvGrpSpPr>
        <p:grpSpPr>
          <a:xfrm>
            <a:off x="3248344" y="716175"/>
            <a:ext cx="2567066" cy="3763848"/>
            <a:chOff x="1050763" y="283725"/>
            <a:chExt cx="2158287" cy="4134279"/>
          </a:xfrm>
        </p:grpSpPr>
        <p:sp>
          <p:nvSpPr>
            <p:cNvPr id="244" name="Google Shape;244;p38"/>
            <p:cNvSpPr/>
            <p:nvPr/>
          </p:nvSpPr>
          <p:spPr>
            <a:xfrm>
              <a:off x="1178650" y="283725"/>
              <a:ext cx="2030400" cy="407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a:off x="1118224" y="341749"/>
              <a:ext cx="2048100" cy="2490600"/>
            </a:xfrm>
            <a:prstGeom prst="rect">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1240086" y="836257"/>
              <a:ext cx="1841100" cy="184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Supports factor-based investing and risk-managed portfolio design.</a:t>
              </a:r>
              <a:br>
                <a:rPr lang="en" sz="1200">
                  <a:solidFill>
                    <a:schemeClr val="dk1"/>
                  </a:solidFill>
                  <a:latin typeface="Roboto Medium"/>
                  <a:ea typeface="Roboto Medium"/>
                  <a:cs typeface="Roboto Medium"/>
                  <a:sym typeface="Roboto Medium"/>
                </a:rPr>
              </a:b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Rank-transformed predictors improve robustness across firms.</a:t>
              </a: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t/>
              </a: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t/>
              </a:r>
              <a:endParaRPr sz="1200">
                <a:solidFill>
                  <a:srgbClr val="1D7E75"/>
                </a:solidFill>
                <a:latin typeface="Roboto Medium"/>
                <a:ea typeface="Roboto Medium"/>
                <a:cs typeface="Roboto Medium"/>
                <a:sym typeface="Roboto Medium"/>
              </a:endParaRPr>
            </a:p>
          </p:txBody>
        </p:sp>
        <p:sp>
          <p:nvSpPr>
            <p:cNvPr id="247" name="Google Shape;247;p38"/>
            <p:cNvSpPr/>
            <p:nvPr/>
          </p:nvSpPr>
          <p:spPr>
            <a:xfrm rot="5400000">
              <a:off x="1938871" y="2785391"/>
              <a:ext cx="389100" cy="278100"/>
            </a:xfrm>
            <a:prstGeom prst="rightArrow">
              <a:avLst>
                <a:gd fmla="val 34239" name="adj1"/>
                <a:gd fmla="val 57035" name="adj2"/>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a:off x="1050763" y="3332604"/>
              <a:ext cx="2030400" cy="1085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600">
                  <a:solidFill>
                    <a:srgbClr val="FFFFFF"/>
                  </a:solidFill>
                  <a:latin typeface="Roboto"/>
                  <a:ea typeface="Roboto"/>
                  <a:cs typeface="Roboto"/>
                  <a:sym typeface="Roboto"/>
                </a:rPr>
                <a:t>Practical Relevance</a:t>
              </a:r>
              <a:endParaRPr sz="1600">
                <a:solidFill>
                  <a:srgbClr val="FFFFFF"/>
                </a:solidFill>
                <a:latin typeface="Roboto"/>
                <a:ea typeface="Roboto"/>
                <a:cs typeface="Roboto"/>
                <a:sym typeface="Roboto"/>
              </a:endParaRPr>
            </a:p>
          </p:txBody>
        </p:sp>
      </p:grpSp>
      <p:grpSp>
        <p:nvGrpSpPr>
          <p:cNvPr id="249" name="Google Shape;249;p38"/>
          <p:cNvGrpSpPr/>
          <p:nvPr/>
        </p:nvGrpSpPr>
        <p:grpSpPr>
          <a:xfrm>
            <a:off x="5603403" y="716175"/>
            <a:ext cx="2984799" cy="3711155"/>
            <a:chOff x="887522" y="283725"/>
            <a:chExt cx="2509500" cy="4076400"/>
          </a:xfrm>
        </p:grpSpPr>
        <p:sp>
          <p:nvSpPr>
            <p:cNvPr id="250" name="Google Shape;250;p38"/>
            <p:cNvSpPr/>
            <p:nvPr/>
          </p:nvSpPr>
          <p:spPr>
            <a:xfrm>
              <a:off x="1178650" y="283725"/>
              <a:ext cx="2030400" cy="407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a:off x="1118224" y="341749"/>
              <a:ext cx="2048100" cy="2490600"/>
            </a:xfrm>
            <a:prstGeom prst="rect">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1286060" y="850203"/>
              <a:ext cx="1815600" cy="1835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Add industry controls or nonlinear effects.</a:t>
              </a:r>
              <a:br>
                <a:rPr lang="en" sz="1200">
                  <a:solidFill>
                    <a:schemeClr val="dk1"/>
                  </a:solidFill>
                  <a:latin typeface="Roboto Medium"/>
                  <a:ea typeface="Roboto Medium"/>
                  <a:cs typeface="Roboto Medium"/>
                  <a:sym typeface="Roboto Medium"/>
                </a:rPr>
              </a:b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rPr lang="en" sz="1200">
                  <a:solidFill>
                    <a:schemeClr val="dk1"/>
                  </a:solidFill>
                  <a:latin typeface="Roboto Medium"/>
                  <a:ea typeface="Roboto Medium"/>
                  <a:cs typeface="Roboto Medium"/>
                  <a:sym typeface="Roboto Medium"/>
                </a:rPr>
                <a:t>Explore regime splits or portfolio-level factor construction.</a:t>
              </a:r>
              <a:endParaRPr sz="1200">
                <a:solidFill>
                  <a:schemeClr val="dk1"/>
                </a:solidFill>
                <a:latin typeface="Roboto Medium"/>
                <a:ea typeface="Roboto Medium"/>
                <a:cs typeface="Roboto Medium"/>
                <a:sym typeface="Roboto Medium"/>
              </a:endParaRPr>
            </a:p>
            <a:p>
              <a:pPr indent="0" lvl="0" marL="0" rtl="0" algn="l">
                <a:spcBef>
                  <a:spcPts val="0"/>
                </a:spcBef>
                <a:spcAft>
                  <a:spcPts val="0"/>
                </a:spcAft>
                <a:buNone/>
              </a:pPr>
              <a:r>
                <a:t/>
              </a:r>
              <a:endParaRPr sz="1200">
                <a:solidFill>
                  <a:srgbClr val="1D7E75"/>
                </a:solidFill>
                <a:latin typeface="Roboto Medium"/>
                <a:ea typeface="Roboto Medium"/>
                <a:cs typeface="Roboto Medium"/>
                <a:sym typeface="Roboto Medium"/>
              </a:endParaRPr>
            </a:p>
          </p:txBody>
        </p:sp>
        <p:sp>
          <p:nvSpPr>
            <p:cNvPr id="253" name="Google Shape;253;p38"/>
            <p:cNvSpPr/>
            <p:nvPr/>
          </p:nvSpPr>
          <p:spPr>
            <a:xfrm rot="5400000">
              <a:off x="1938871" y="2785391"/>
              <a:ext cx="389100" cy="278100"/>
            </a:xfrm>
            <a:prstGeom prst="rightArrow">
              <a:avLst>
                <a:gd fmla="val 34239" name="adj1"/>
                <a:gd fmla="val 57035"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887522" y="3377475"/>
              <a:ext cx="2509500" cy="6081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700">
                  <a:solidFill>
                    <a:srgbClr val="FFFFFF"/>
                  </a:solidFill>
                  <a:latin typeface="Roboto"/>
                  <a:ea typeface="Roboto"/>
                  <a:cs typeface="Roboto"/>
                  <a:sym typeface="Roboto"/>
                </a:rPr>
                <a:t>Possible Extensions</a:t>
              </a:r>
              <a:endParaRPr sz="1600">
                <a:solidFill>
                  <a:srgbClr val="FFFFFF"/>
                </a:solidFill>
                <a:latin typeface="Roboto"/>
                <a:ea typeface="Roboto"/>
                <a:cs typeface="Roboto"/>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idx="1" type="body"/>
          </p:nvPr>
        </p:nvSpPr>
        <p:spPr>
          <a:xfrm>
            <a:off x="2642015" y="2371695"/>
            <a:ext cx="38601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t>Appendix</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ph type="title"/>
          </p:nvPr>
        </p:nvSpPr>
        <p:spPr>
          <a:xfrm>
            <a:off x="101600" y="280025"/>
            <a:ext cx="8869800" cy="548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sz="2000"/>
              <a:t>BIC Drop-One Comparison Table</a:t>
            </a:r>
            <a:endParaRPr sz="2000"/>
          </a:p>
        </p:txBody>
      </p:sp>
      <p:graphicFrame>
        <p:nvGraphicFramePr>
          <p:cNvPr id="265" name="Google Shape;265;p40"/>
          <p:cNvGraphicFramePr/>
          <p:nvPr/>
        </p:nvGraphicFramePr>
        <p:xfrm>
          <a:off x="754800" y="1048288"/>
          <a:ext cx="3000000" cy="3000000"/>
        </p:xfrm>
        <a:graphic>
          <a:graphicData uri="http://schemas.openxmlformats.org/drawingml/2006/table">
            <a:tbl>
              <a:tblPr>
                <a:solidFill>
                  <a:srgbClr val="FFFFFF"/>
                </a:solidFill>
                <a:tableStyleId>{8D6B4787-D998-45B7-BF7A-10820D15526B}</a:tableStyleId>
              </a:tblPr>
              <a:tblGrid>
                <a:gridCol w="936350"/>
                <a:gridCol w="1287950"/>
                <a:gridCol w="1358125"/>
                <a:gridCol w="1210125"/>
                <a:gridCol w="1523675"/>
                <a:gridCol w="1247175"/>
              </a:tblGrid>
              <a:tr h="418250">
                <a:tc>
                  <a:txBody>
                    <a:bodyPr/>
                    <a:lstStyle/>
                    <a:p>
                      <a:pPr indent="0" lvl="0" marL="0" rtl="0" algn="r">
                        <a:lnSpc>
                          <a:spcPct val="115000"/>
                        </a:lnSpc>
                        <a:spcBef>
                          <a:spcPts val="0"/>
                        </a:spcBef>
                        <a:spcAft>
                          <a:spcPts val="0"/>
                        </a:spcAft>
                        <a:buNone/>
                      </a:pPr>
                      <a:r>
                        <a:t/>
                      </a:r>
                      <a:endParaRPr/>
                    </a:p>
                    <a:p>
                      <a:pPr indent="0" lvl="0" marL="0" rtl="0" algn="r">
                        <a:lnSpc>
                          <a:spcPct val="115000"/>
                        </a:lnSpc>
                        <a:spcBef>
                          <a:spcPts val="0"/>
                        </a:spcBef>
                        <a:spcAft>
                          <a:spcPts val="0"/>
                        </a:spcAft>
                        <a:buNone/>
                      </a:pPr>
                      <a:r>
                        <a:t/>
                      </a:r>
                      <a:endParaRPr b="1" sz="1050">
                        <a:solidFill>
                          <a:srgbClr val="1F1F1F"/>
                        </a:solidFill>
                        <a:highlight>
                          <a:srgbClr val="FFFFFF"/>
                        </a:highlight>
                      </a:endParaRPr>
                    </a:p>
                  </a:txBody>
                  <a:tcPr marT="66675" marB="66675" marR="66675" marL="66675">
                    <a:solidFill>
                      <a:schemeClr val="dk1"/>
                    </a:solidFill>
                  </a:tcPr>
                </a:tc>
                <a:tc>
                  <a:txBody>
                    <a:bodyPr/>
                    <a:lstStyle/>
                    <a:p>
                      <a:pPr indent="0" lvl="0" marL="0" rtl="0" algn="r">
                        <a:lnSpc>
                          <a:spcPct val="115000"/>
                        </a:lnSpc>
                        <a:spcBef>
                          <a:spcPts val="0"/>
                        </a:spcBef>
                        <a:spcAft>
                          <a:spcPts val="0"/>
                        </a:spcAft>
                        <a:buNone/>
                      </a:pPr>
                      <a:r>
                        <a:rPr b="1" lang="en">
                          <a:solidFill>
                            <a:schemeClr val="lt1"/>
                          </a:solidFill>
                        </a:rPr>
                        <a:t>dropped_va</a:t>
                      </a:r>
                      <a:r>
                        <a:rPr b="1" lang="en">
                          <a:solidFill>
                            <a:schemeClr val="lt1"/>
                          </a:solidFill>
                        </a:rPr>
                        <a:t>r</a:t>
                      </a:r>
                      <a:endParaRPr b="1">
                        <a:solidFill>
                          <a:schemeClr val="lt1"/>
                        </a:solidFill>
                      </a:endParaRPr>
                    </a:p>
                  </a:txBody>
                  <a:tcPr marT="66675" marB="66675" marR="66675" marL="66675" anchor="ctr">
                    <a:solidFill>
                      <a:schemeClr val="dk1"/>
                    </a:solidFill>
                  </a:tcPr>
                </a:tc>
                <a:tc>
                  <a:txBody>
                    <a:bodyPr/>
                    <a:lstStyle/>
                    <a:p>
                      <a:pPr indent="0" lvl="0" marL="0" rtl="0" algn="l">
                        <a:lnSpc>
                          <a:spcPct val="115000"/>
                        </a:lnSpc>
                        <a:spcBef>
                          <a:spcPts val="0"/>
                        </a:spcBef>
                        <a:spcAft>
                          <a:spcPts val="0"/>
                        </a:spcAft>
                        <a:buNone/>
                      </a:pPr>
                      <a:r>
                        <a:rPr b="1" lang="en">
                          <a:solidFill>
                            <a:schemeClr val="lt1"/>
                          </a:solidFill>
                        </a:rPr>
                        <a:t>BIC_reduced</a:t>
                      </a:r>
                      <a:endParaRPr b="1">
                        <a:solidFill>
                          <a:schemeClr val="lt1"/>
                        </a:solidFill>
                      </a:endParaRPr>
                    </a:p>
                  </a:txBody>
                  <a:tcPr marT="66675" marB="66675" marR="66675" marL="66675" anchor="ctr">
                    <a:solidFill>
                      <a:schemeClr val="dk1"/>
                    </a:solidFill>
                  </a:tcPr>
                </a:tc>
                <a:tc>
                  <a:txBody>
                    <a:bodyPr/>
                    <a:lstStyle/>
                    <a:p>
                      <a:pPr indent="0" lvl="0" marL="0" marR="0" rtl="0" algn="r">
                        <a:lnSpc>
                          <a:spcPct val="115000"/>
                        </a:lnSpc>
                        <a:spcBef>
                          <a:spcPts val="0"/>
                        </a:spcBef>
                        <a:spcAft>
                          <a:spcPts val="0"/>
                        </a:spcAft>
                        <a:buNone/>
                      </a:pPr>
                      <a:r>
                        <a:rPr b="1" lang="en">
                          <a:solidFill>
                            <a:schemeClr val="lt1"/>
                          </a:solidFill>
                        </a:rPr>
                        <a:t>delta_BIC</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b="1" lang="en">
                          <a:solidFill>
                            <a:schemeClr val="lt1"/>
                          </a:solidFill>
                        </a:rPr>
                        <a:t>adj_R2_reduced</a:t>
                      </a:r>
                      <a:endParaRPr b="1">
                        <a:solidFill>
                          <a:schemeClr val="lt1"/>
                        </a:solidFill>
                      </a:endParaRPr>
                    </a:p>
                  </a:txBody>
                  <a:tcPr marT="66675" marB="66675" marR="66675" marL="66675" anchor="ctr">
                    <a:solidFill>
                      <a:schemeClr val="dk1"/>
                    </a:solidFill>
                  </a:tcPr>
                </a:tc>
                <a:tc>
                  <a:txBody>
                    <a:bodyPr/>
                    <a:lstStyle/>
                    <a:p>
                      <a:pPr indent="0" lvl="0" marL="0" marR="0" rtl="0" algn="r">
                        <a:lnSpc>
                          <a:spcPct val="115000"/>
                        </a:lnSpc>
                        <a:spcBef>
                          <a:spcPts val="0"/>
                        </a:spcBef>
                        <a:spcAft>
                          <a:spcPts val="0"/>
                        </a:spcAft>
                        <a:buNone/>
                      </a:pPr>
                      <a:r>
                        <a:rPr b="1" lang="en">
                          <a:solidFill>
                            <a:schemeClr val="lt1"/>
                          </a:solidFill>
                        </a:rPr>
                        <a:t>delta_adj_R2</a:t>
                      </a:r>
                      <a:endParaRPr b="1">
                        <a:solidFill>
                          <a:schemeClr val="lt1"/>
                        </a:solidFill>
                      </a:endParaRPr>
                    </a:p>
                  </a:txBody>
                  <a:tcPr marT="66675" marB="66675" marR="66675" marL="66675" anchor="ctr">
                    <a:solidFill>
                      <a:schemeClr val="dk1"/>
                    </a:solidFill>
                  </a:tcPr>
                </a:tc>
              </a:tr>
              <a:tr h="364500">
                <a:tc>
                  <a:txBody>
                    <a:bodyPr/>
                    <a:lstStyle/>
                    <a:p>
                      <a:pPr indent="0" lvl="0" marL="0" rtl="0" algn="ctr">
                        <a:lnSpc>
                          <a:spcPct val="115000"/>
                        </a:lnSpc>
                        <a:spcBef>
                          <a:spcPts val="0"/>
                        </a:spcBef>
                        <a:spcAft>
                          <a:spcPts val="0"/>
                        </a:spcAft>
                        <a:buNone/>
                      </a:pPr>
                      <a:r>
                        <a:rPr b="1" lang="en">
                          <a:solidFill>
                            <a:schemeClr val="lt1"/>
                          </a:solidFill>
                        </a:rPr>
                        <a:t>4</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Rank_EP</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-373991.611534</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-4.394823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0.051671</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-0.000020</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7</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Rank_AG</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-373968.378480</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18.838232</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0.051607</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-0.000083</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2</a:t>
                      </a:r>
                      <a:endParaRPr b="1" sz="1050">
                        <a:solidFill>
                          <a:srgbClr val="1F1F1F"/>
                        </a:solidFill>
                        <a:highlight>
                          <a:srgbClr val="FFFFFF"/>
                        </a:highlight>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Rank_OpLev</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-373963.236313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23.980399</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0.051593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-0.000097</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1</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Rank_BM</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-373944.645710</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42.571002</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0.051543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-0.000148</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3</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Rank_FinLev</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-373937.745303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49.471408</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0.051524</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-0.000167</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0</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Rank_Size</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-373809.505101</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177.711610</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0.051174</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-0.000516</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6</a:t>
                      </a:r>
                      <a:endParaRPr b="1" sz="1050">
                        <a:solidFill>
                          <a:srgbClr val="1F1F1F"/>
                        </a:solidFill>
                        <a:highlight>
                          <a:srgbClr val="FFFFFF"/>
                        </a:highlight>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Rank_Rev</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-372017.444984</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1969.771727</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0.046275</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-0.005415</a:t>
                      </a:r>
                      <a:endParaRPr sz="1050">
                        <a:solidFill>
                          <a:srgbClr val="1F1F1F"/>
                        </a:solidFill>
                        <a:highlight>
                          <a:srgbClr val="FFFFFF"/>
                        </a:highlight>
                      </a:endParaRPr>
                    </a:p>
                  </a:txBody>
                  <a:tcPr marT="66675" marB="66675" marR="66675" marL="66675"/>
                </a:tc>
              </a:tr>
              <a:tr h="364500">
                <a:tc>
                  <a:txBody>
                    <a:bodyPr/>
                    <a:lstStyle/>
                    <a:p>
                      <a:pPr indent="0" lvl="0" marL="0" rtl="0" algn="ctr">
                        <a:lnSpc>
                          <a:spcPct val="115000"/>
                        </a:lnSpc>
                        <a:spcBef>
                          <a:spcPts val="0"/>
                        </a:spcBef>
                        <a:spcAft>
                          <a:spcPts val="0"/>
                        </a:spcAft>
                        <a:buNone/>
                      </a:pPr>
                      <a:r>
                        <a:rPr b="1" lang="en">
                          <a:solidFill>
                            <a:schemeClr val="lt1"/>
                          </a:solidFill>
                        </a:rPr>
                        <a:t>5</a:t>
                      </a:r>
                      <a:endParaRPr b="1">
                        <a:solidFill>
                          <a:schemeClr val="lt1"/>
                        </a:solidFill>
                      </a:endParaRPr>
                    </a:p>
                  </a:txBody>
                  <a:tcPr marT="66675" marB="66675" marR="66675" marL="66675" anchor="ctr">
                    <a:solidFill>
                      <a:schemeClr val="dk1"/>
                    </a:solidFill>
                  </a:tcPr>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Rank_Mom</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-359437.589183</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14549.627529</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0.011167</a:t>
                      </a:r>
                      <a:endParaRPr sz="1050">
                        <a:solidFill>
                          <a:srgbClr val="1F1F1F"/>
                        </a:solidFill>
                        <a:highlight>
                          <a:srgbClr val="FFFFFF"/>
                        </a:highlight>
                      </a:endParaRPr>
                    </a:p>
                  </a:txBody>
                  <a:tcPr marT="66675" marB="66675" marR="66675" marL="66675"/>
                </a:tc>
                <a:tc>
                  <a:txBody>
                    <a:bodyPr/>
                    <a:lstStyle/>
                    <a:p>
                      <a:pPr indent="0" lvl="0" marL="0" rtl="0" algn="r">
                        <a:lnSpc>
                          <a:spcPct val="115000"/>
                        </a:lnSpc>
                        <a:spcBef>
                          <a:spcPts val="0"/>
                        </a:spcBef>
                        <a:spcAft>
                          <a:spcPts val="0"/>
                        </a:spcAft>
                        <a:buNone/>
                      </a:pPr>
                      <a:r>
                        <a:rPr lang="en" sz="1050">
                          <a:solidFill>
                            <a:srgbClr val="1F1F1F"/>
                          </a:solidFill>
                          <a:highlight>
                            <a:srgbClr val="FFFFFF"/>
                          </a:highlight>
                        </a:rPr>
                        <a:t>-0.040524</a:t>
                      </a:r>
                      <a:endParaRPr sz="1050">
                        <a:solidFill>
                          <a:srgbClr val="1F1F1F"/>
                        </a:solidFill>
                        <a:highlight>
                          <a:srgbClr val="FFFFFF"/>
                        </a:highlight>
                      </a:endParaRPr>
                    </a:p>
                  </a:txBody>
                  <a:tcPr marT="66675" marB="66675" marR="66675" marL="6667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UChicago ">
  <a:themeElements>
    <a:clrScheme name="UChicago">
      <a:dk1>
        <a:srgbClr val="800000"/>
      </a:dk1>
      <a:lt1>
        <a:srgbClr val="FFFFFF"/>
      </a:lt1>
      <a:dk2>
        <a:srgbClr val="110E0E"/>
      </a:dk2>
      <a:lt2>
        <a:srgbClr val="EAEAEA"/>
      </a:lt2>
      <a:accent1>
        <a:srgbClr val="800000"/>
      </a:accent1>
      <a:accent2>
        <a:srgbClr val="F8A429"/>
      </a:accent2>
      <a:accent3>
        <a:srgbClr val="C16622"/>
      </a:accent3>
      <a:accent4>
        <a:srgbClr val="91AB5A"/>
      </a:accent4>
      <a:accent5>
        <a:srgbClr val="58593F"/>
      </a:accent5>
      <a:accent6>
        <a:srgbClr val="155F83"/>
      </a:accent6>
      <a:hlink>
        <a:srgbClr val="800000"/>
      </a:hlink>
      <a:folHlink>
        <a:srgbClr val="BA7B7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